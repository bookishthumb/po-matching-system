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9" r:id="rId6"/>
    <p:sldId id="267" r:id="rId7"/>
    <p:sldId id="260" r:id="rId8"/>
    <p:sldId id="266" r:id="rId9"/>
    <p:sldId id="268" r:id="rId10"/>
    <p:sldId id="262" r:id="rId11"/>
    <p:sldId id="263" r:id="rId12"/>
    <p:sldId id="264" r:id="rId13"/>
    <p:sldId id="265"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72"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Outcomes</c:v>
                </c:pt>
              </c:strCache>
            </c:strRef>
          </c:tx>
          <c:spPr>
            <a:solidFill>
              <a:schemeClr val="accent1"/>
            </a:solidFill>
            <a:ln w="9525" cap="flat">
              <a:solidFill>
                <a:srgbClr val="F9F9F9"/>
              </a:solidFill>
              <a:prstDash val="solid"/>
              <a:round/>
            </a:ln>
            <a:effectLst/>
          </c:spPr>
          <c:dPt>
            <c:idx val="0"/>
            <c:bubble3D val="0"/>
            <c:spPr>
              <a:solidFill>
                <a:srgbClr val="10B981"/>
              </a:solidFill>
              <a:effectLst/>
            </c:spPr>
            <c:extLst>
              <c:ext xmlns:c16="http://schemas.microsoft.com/office/drawing/2014/chart" uri="{C3380CC4-5D6E-409C-BE32-E72D297353CC}">
                <c16:uniqueId val="{00000001-7FBA-4811-A243-367541FCA7FF}"/>
              </c:ext>
            </c:extLst>
          </c:dPt>
          <c:dPt>
            <c:idx val="1"/>
            <c:bubble3D val="0"/>
            <c:spPr>
              <a:solidFill>
                <a:srgbClr val="F59E0B"/>
              </a:solidFill>
              <a:effectLst/>
            </c:spPr>
            <c:extLst>
              <c:ext xmlns:c16="http://schemas.microsoft.com/office/drawing/2014/chart" uri="{C3380CC4-5D6E-409C-BE32-E72D297353CC}">
                <c16:uniqueId val="{00000003-7FBA-4811-A243-367541FCA7FF}"/>
              </c:ext>
            </c:extLst>
          </c:dPt>
          <c:dPt>
            <c:idx val="2"/>
            <c:bubble3D val="0"/>
            <c:spPr>
              <a:solidFill>
                <a:srgbClr val="EF4444"/>
              </a:solidFill>
              <a:effectLst/>
            </c:spPr>
            <c:extLst>
              <c:ext xmlns:c16="http://schemas.microsoft.com/office/drawing/2014/chart" uri="{C3380CC4-5D6E-409C-BE32-E72D297353CC}">
                <c16:uniqueId val="{00000005-7FBA-4811-A243-367541FCA7FF}"/>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FBA-4811-A243-367541FCA7FF}"/>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FBA-4811-A243-367541FCA7FF}"/>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7FBA-4811-A243-367541FCA7FF}"/>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Ready for Payment</c:v>
                </c:pt>
                <c:pt idx="1">
                  <c:v>Procurement Review</c:v>
                </c:pt>
                <c:pt idx="2">
                  <c:v>Rejected</c:v>
                </c:pt>
              </c:strCache>
            </c:strRef>
          </c:cat>
          <c:val>
            <c:numRef>
              <c:f>Sheet1!$B$2:$B$4</c:f>
              <c:numCache>
                <c:formatCode>General</c:formatCode>
                <c:ptCount val="3"/>
                <c:pt idx="0">
                  <c:v>58</c:v>
                </c:pt>
                <c:pt idx="1">
                  <c:v>27</c:v>
                </c:pt>
                <c:pt idx="2">
                  <c:v>15</c:v>
                </c:pt>
              </c:numCache>
            </c:numRef>
          </c:val>
          <c:extLst>
            <c:ext xmlns:c16="http://schemas.microsoft.com/office/drawing/2014/chart" uri="{C3380CC4-5D6E-409C-BE32-E72D297353CC}">
              <c16:uniqueId val="{00000006-7FBA-4811-A243-367541FCA7FF}"/>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1000">
              <a:solidFill>
                <a:srgbClr val="94A3B8"/>
              </a:solidFill>
            </a:defRPr>
          </a:pPr>
          <a:endParaRPr lang="en-US"/>
        </a:p>
      </c:txPr>
    </c:legend>
    <c:plotVisOnly val="1"/>
    <c:dispBlanksAs val="span"/>
    <c:showDLblsOverMax val="1"/>
  </c:chart>
  <c:spPr>
    <a:solidFill>
      <a:srgbClr val="131826"/>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6332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thank you for the time. I'm going to walk you through Invoice-PO Guardian, the project I built for Round 3. In one sentence: it's an AI pipeline that reads supplier invoices, checks them against approved Purchase Orders, and automatically decides whether an invoice is ready for payment, needs a human's eyes, or should be rejected outright. Everything you'll see today is actually running — this isn't a mockup. I built it in Python with FastAPI on the backend, React on the frontend, Groq's Llama 3.3 for the AI extraction, and I treated this as a real code-based alternative to a tool like n8n, since the goal was production-style engineering, not just a demo script.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the solution, let's ground this in the actual business pain. When a supplier sends an invoice, someone on the procurement team has to manually pull up the original Purchase Order and check: same vendor? same quantities? same prices? does the math add up? That's slow, and it's exactly the kind of repetitive checking where humans get fatigued and miss things. Worse, there's often no consistent record of why an invoice was approved or rejected — which becomes a real problem if a duplicate or inflated invoice slips through. Those four boxes — slow turnaround, human error, fraud risk, and no audit trail — are the four things this project is specifically designed to solve.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in one picture. An email with an invoice PDF comes in, we pull the text out of the PDF, hand that text to an LLM to turn it into structured data, look up the matching Purchase Order, compare them field by field, flag any discrepancies, and route the invoice to one of three outcomes. I want to highlight the assignment explicitly allowed 'n8n or an equivalent' — I chose to build this as a code-based pipeline instead of a visual no-code tool, because it gave me full control over the matching logic and error handling, and because as an AI Engineer candidate, I wanted to show real backend engineering, not just wiring together pre-built nodes. The numbers at the bottom — 9 pipeline stages, 8 discrepancy types, configurable tolerance, 3 outcome tiers — are the concrete proof points I'll expand on in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why I chose each piece of this stack. FastAPI gives me async performance and automatic request validation, which matters when you're handling file uploads and calling an external AI API. React powers the dashboard so reviewers get a real-time, interactive view instead of a static report. For the AI layer, I used Groq running Llama 3.3 70B — it's extremely fast inference and free-tier friendly, which mattered given my timeline, without sacrificing extraction quality. SQLite is my local operational database — fast, zero-setup, perfect for this scope — while Airtable serves as a durable, human-browsable final storage layer, which is closer to what a real finance team might already use day to day. And JWT plus bcrypt handles authentication properly — I'll go deeper on that in the security slide, since that's explicitly part of the evaluation criteria.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5E721-0D0B-7FCB-6357-0EE513486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F6E0F-3AB2-335A-04C1-9312756EB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99050-1C28-FEE2-C2EE-D9CEBDC7BA53}"/>
              </a:ext>
            </a:extLst>
          </p:cNvPr>
          <p:cNvSpPr>
            <a:spLocks noGrp="1"/>
          </p:cNvSpPr>
          <p:nvPr>
            <p:ph type="body" idx="1"/>
          </p:nvPr>
        </p:nvSpPr>
        <p:spPr/>
        <p:txBody>
          <a:bodyPr/>
          <a:lstStyle/>
          <a:p>
            <a:r>
              <a:rPr lang="en-US" dirty="0"/>
              <a:t>A quick word on why I chose each piece of this stack. FastAPI gives me async performance and automatic request validation, which matters when you're handling file uploads and calling an external AI API. React powers the dashboard so reviewers get a real-time, interactive view instead of a static report. For the AI layer, I used Groq running Llama 3.3 70B — it's extremely fast inference and free-tier friendly, which mattered given my timeline, without sacrificing extraction quality. SQLite is my local operational database — fast, zero-setup, perfect for this scope — while Airtable serves as a durable, human-browsable final storage layer, which is closer to what a real finance team might already use day to day. And JWT plus bcrypt handles authentication properly — I'll go deeper on that in the security slide, since that's explicitly part of the evaluation criteria.</a:t>
            </a:r>
          </a:p>
        </p:txBody>
      </p:sp>
      <p:sp>
        <p:nvSpPr>
          <p:cNvPr id="4" name="Slide Number Placeholder 3">
            <a:extLst>
              <a:ext uri="{FF2B5EF4-FFF2-40B4-BE49-F238E27FC236}">
                <a16:creationId xmlns:a16="http://schemas.microsoft.com/office/drawing/2014/main" id="{5CBE869A-62F8-70E0-80FD-3023330531B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444077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8DCB8-A5AE-7CC9-0D69-18966711F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F6933-F793-EB72-A29F-DEAAFAB92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29111-5A8D-2699-C73C-556851B41981}"/>
              </a:ext>
            </a:extLst>
          </p:cNvPr>
          <p:cNvSpPr>
            <a:spLocks noGrp="1"/>
          </p:cNvSpPr>
          <p:nvPr>
            <p:ph type="body" idx="1"/>
          </p:nvPr>
        </p:nvSpPr>
        <p:spPr/>
        <p:txBody>
          <a:bodyPr/>
          <a:lstStyle/>
          <a:p>
            <a:r>
              <a:rPr lang="en-US" dirty="0"/>
              <a:t>A quick word on why I chose each piece of this stack. FastAPI gives me async performance and automatic request validation, which matters when you're handling file uploads and calling an external AI API. React powers the dashboard so reviewers get a real-time, interactive view instead of a static report. For the AI layer, I used Groq running Llama 3.3 70B — it's extremely fast inference and free-tier friendly, which mattered given my timeline, without sacrificing extraction quality. SQLite is my local operational database — fast, zero-setup, perfect for this scope — while Airtable serves as a durable, human-browsable final storage layer, which is closer to what a real finance team might already use day to day. And JWT plus bcrypt handles authentication properly — I'll go deeper on that in the security slide, since that's explicitly part of the evaluation criteria.</a:t>
            </a:r>
          </a:p>
        </p:txBody>
      </p:sp>
      <p:sp>
        <p:nvSpPr>
          <p:cNvPr id="4" name="Slide Number Placeholder 3">
            <a:extLst>
              <a:ext uri="{FF2B5EF4-FFF2-40B4-BE49-F238E27FC236}">
                <a16:creationId xmlns:a16="http://schemas.microsoft.com/office/drawing/2014/main" id="{2D190198-A40D-BA55-73B7-E438149BC15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84472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all eight stages quickly, left to right, top to bottom. First, ingestion — I built both a folder-watcher for simulated testing and a real IMAP fetcher, so this isn't limited to fake data. Second, PDF extraction using pdfplumber pulls raw text out, handling multi-page invoices. Third, that raw text goes to Llama 3.3 via Groq, which returns strict JSON validated against a Pydantic schema — if the AI's response doesn't match the schema, we catch that immediately rather than letting bad data flow downstream. Fourth, we look up the matching PO by PO number. Fifth — and this is the core engineering work — a field-by-field comparison engine checks vendor name, currency, every line item's quantity and price, and the totals, all with a configurable tolerance rather than naive exact matching. Sixth, that comparison feeds into discrepancy detection, which identifies eight distinct mismatch types. Seventh, business rules turn those discrepancies into one of three outcomes. And eighth, everything is stored with a full audit trail — every approval, rejection, and override is timestamped and attributed.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D895-D118-6F0B-338C-8F6E99BBE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B22B2-D87C-2A63-F562-C8149C01A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9A5C2-3523-01AC-9E58-3F487A0FBFB8}"/>
              </a:ext>
            </a:extLst>
          </p:cNvPr>
          <p:cNvSpPr>
            <a:spLocks noGrp="1"/>
          </p:cNvSpPr>
          <p:nvPr>
            <p:ph type="body" idx="1"/>
          </p:nvPr>
        </p:nvSpPr>
        <p:spPr/>
        <p:txBody>
          <a:bodyPr/>
          <a:lstStyle/>
          <a:p>
            <a:r>
              <a:rPr lang="en-US" dirty="0"/>
              <a:t>Let me walk through all eight stages quickly, left to right, top to bottom. First, ingestion — I built both a folder-watcher for simulated testing and a real IMAP fetcher, so this isn't limited to fake data. Second, PDF extraction using pdfplumber pulls raw text out, handling multi-page invoices. Third, that raw text goes to Llama 3.3 via Groq, which returns strict JSON validated against a Pydantic schema — if the AI's response doesn't match the schema, we catch that immediately rather than letting bad data flow downstream. Fourth, we look up the matching PO by PO number. Fifth — and this is the core engineering work — a field-by-field comparison engine checks vendor name, currency, every line item's quantity and price, and the totals, all with a configurable tolerance rather than naive exact matching. Sixth, that comparison feeds into discrepancy detection, which identifies eight distinct mismatch types. Seventh, business rules turn those discrepancies into one of three outcomes. And eighth, everything is stored with a full audit trail — every approval, rejection, and override is timestamped and attributed.</a:t>
            </a:r>
          </a:p>
        </p:txBody>
      </p:sp>
      <p:sp>
        <p:nvSpPr>
          <p:cNvPr id="4" name="Slide Number Placeholder 3">
            <a:extLst>
              <a:ext uri="{FF2B5EF4-FFF2-40B4-BE49-F238E27FC236}">
                <a16:creationId xmlns:a16="http://schemas.microsoft.com/office/drawing/2014/main" id="{2674BCE0-E67D-7F92-2044-6609A361131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47413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9D10F-4BB3-4414-068D-174319829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24C67-7C80-0F70-3FEA-0DCF8D2B6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4A4C7C-6172-1B4C-BD9F-8CA9E62383CF}"/>
              </a:ext>
            </a:extLst>
          </p:cNvPr>
          <p:cNvSpPr>
            <a:spLocks noGrp="1"/>
          </p:cNvSpPr>
          <p:nvPr>
            <p:ph type="body" idx="1"/>
          </p:nvPr>
        </p:nvSpPr>
        <p:spPr/>
        <p:txBody>
          <a:bodyPr/>
          <a:lstStyle/>
          <a:p>
            <a:r>
              <a:rPr lang="en-US" dirty="0"/>
              <a:t>Since this is an AI Engineer role, I want to spend real time on the prompt engineering, because that's where a lot of the reliability of this system actually comes from. First, the prompt enforces a strict JSON schema and explicitly tells the model to return nothing but JSON — no markdown fences, no commentary — because I need to parse this programmatically every single time. Second, I included a compact few-shot example directly in the system prompt, which anchors the model's formatting even when the invoice text is messy or oddly structured. Third — and I think this is the detail that shows real engineering maturity — I explicitly instruct the model to never guess a missing value; instead it returns null and logs a warning. That's a deliberate choice: a wrong guess is worse than an honest 'I don't know' in a finance context. Fourth, the model self-reports a confidence score, which I actually use downstream — low-confidence extractions get routed to human review regardless of whether the numbers matched. Fifth, temperature is set low, at 0.1, because I want consistent, repeatable behavior, not creative variation. And finally, if the model ever returns malformed JSON, I don't just crash — I send one corrective retry prompt, and only fall back to manual review if that also fails.</a:t>
            </a:r>
          </a:p>
        </p:txBody>
      </p:sp>
      <p:sp>
        <p:nvSpPr>
          <p:cNvPr id="4" name="Slide Number Placeholder 3">
            <a:extLst>
              <a:ext uri="{FF2B5EF4-FFF2-40B4-BE49-F238E27FC236}">
                <a16:creationId xmlns:a16="http://schemas.microsoft.com/office/drawing/2014/main" id="{63BE63DB-835D-1E00-5062-A3465829034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53263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business logic that turns raw discrepancy data into an actual decision. I deliberately avoided a binary 'match or no match' system, because that's not how real procurement teams think about risk. Instead, I built a three-tier model. Green — Ready for Payment — means either a perfect match, or every difference falls inside a configurable tolerance band, which I set at plus-or-minus 2 percent by default. Amber — Procurement Review — covers minor issues, like a price or quantity that's off by less than 10 percent, or an extra line item that wasn't on the original PO — these need a human's judgment but aren't automatically rejected. Red — Rejected — is reserved for major issues: a vendor mismatch, a missing PO entirely, or any difference of 10 percent or more. The donut chart on the left shows what a realistic batch of invoices might look like once this logic runs — and I want to emphasize that none of these thresholds are hardcoded magic numbers; they're pulled from environment variables, so this could be tuned for a stricter or looser policy without touching a single line of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security is explicitly called out in the evaluation criteria, I want to be specific rather than hand-wavy about what's actually implemented here — all six of these are real, not decorative. Every endpoint that touches invoice or PO data requires a valid, signed JWT — I tested this directly by hitting a protected endpoint with no token and confirming it returns a 401, not invoice data. Passwords are hashed with bcrypt, never stored in plaintext, and I added rate limiting on the login endpoint specifically to blunt brute-force attempts. Failed logins return a generic 'invalid credentials' message — I deliberately don't reveal whether the username or the password was wrong, since that kind of detail is exactly what helps an attacker narrow down a valid account. Secrets like the JWT signing key and the default admin password are read from environment variables, never hardcoded into source code. And session tokens live in sessionStorage rather than localStorage, so they're cleared the moment the browser tab closes, reducing the exposure window. I do note in my README that a production deployment would go further — httpOnly cookies, refresh token rotation — but for this scope, this is a genuinely defensible security posture, not just a login form for show.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finance-adjacent pipeline, the worst outcome isn't an error — it's silently losing or mishandling an invoice. So I built every stage of this pipeline to fail into a safe, visible state rather than crash or drop data. If a PDF is corrupted or empty, the extraction error is caught, the invoice is still saved with a warning attached, and it's routed straight to Procurement Review instead of vanishing. If the AI returns malformed JSON, there's one corrective retry before we flag it honestly as a failed extraction. If the Groq API times out or hits a rate limit, there's automatic retry with exponential backoff before it ever surfaces as a user-facing error. Database writes are wrapped in retry logic too, to absorb the occasional SQLite lock under concurrent access. And I also built duplicate invoice detection as a bonus feature — before storing a new invoice, the system checks if that vendor and invoice number combination already exists, and if so, it's automatically rejected rather than risking a double payment. I actually triggered this live during testing by accident, which was a nice confirmation that it works exactly as designed.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want to bring this back to business value, not just technical features. Every single invoice that flows through this system gets a consistent, explainable decision — nobody's having a bad day and missing a mismatch, because the same eight checks run identically every time. There are zero hardcoded secrets anywhere in this codebase, which matters if this were ever handed to another engineer or deployed somewhere real. And critically, this isn't trying to remove humans from the loop — it's trying to remove the tedious, error-prone parts of their job so their judgment gets used where it actually matters: reviewing genuinely ambiguous cases, not manually cross-checking numbers on a hundred invoices a day. That's the philosophy behind every design decision I made here. Thank you — happy to answer any questions, or walk through the live system and the code directly.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2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5.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a:effectLst/>
      </p:bgPr>
    </p:bg>
    <p:spTree>
      <p:nvGrpSpPr>
        <p:cNvPr id="1" name=""/>
        <p:cNvGrpSpPr/>
        <p:nvPr/>
      </p:nvGrpSpPr>
      <p:grpSpPr>
        <a:xfrm>
          <a:off x="0" y="0"/>
          <a:ext cx="0" cy="0"/>
          <a:chOff x="0" y="0"/>
          <a:chExt cx="0" cy="0"/>
        </a:xfrm>
      </p:grpSpPr>
      <p:sp>
        <p:nvSpPr>
          <p:cNvPr id="2" name="Shape 0"/>
          <p:cNvSpPr/>
          <p:nvPr/>
        </p:nvSpPr>
        <p:spPr>
          <a:xfrm>
            <a:off x="-2286000" y="-2286000"/>
            <a:ext cx="6400800" cy="6400800"/>
          </a:xfrm>
          <a:prstGeom prst="ellipse">
            <a:avLst/>
          </a:prstGeom>
          <a:solidFill>
            <a:srgbClr val="00A896">
              <a:alpha val="12000"/>
            </a:srgbClr>
          </a:solidFill>
          <a:ln/>
        </p:spPr>
        <p:txBody>
          <a:bodyPr/>
          <a:lstStyle/>
          <a:p>
            <a:endParaRPr lang="en-IN"/>
          </a:p>
        </p:txBody>
      </p:sp>
      <p:sp>
        <p:nvSpPr>
          <p:cNvPr id="3" name="Shape 1"/>
          <p:cNvSpPr/>
          <p:nvPr/>
        </p:nvSpPr>
        <p:spPr>
          <a:xfrm>
            <a:off x="8686800" y="3200400"/>
            <a:ext cx="5486400" cy="5486400"/>
          </a:xfrm>
          <a:prstGeom prst="ellipse">
            <a:avLst/>
          </a:prstGeom>
          <a:solidFill>
            <a:srgbClr val="22D3EE">
              <a:alpha val="10000"/>
            </a:srgbClr>
          </a:solidFill>
          <a:ln/>
        </p:spPr>
        <p:txBody>
          <a:bodyPr/>
          <a:lstStyle/>
          <a:p>
            <a:endParaRPr lang="en-IN"/>
          </a:p>
        </p:txBody>
      </p:sp>
      <p:sp>
        <p:nvSpPr>
          <p:cNvPr id="4" name="Shape 2"/>
          <p:cNvSpPr/>
          <p:nvPr/>
        </p:nvSpPr>
        <p:spPr>
          <a:xfrm>
            <a:off x="822960" y="1051560"/>
            <a:ext cx="822960" cy="822960"/>
          </a:xfrm>
          <a:prstGeom prst="ellipse">
            <a:avLst/>
          </a:prstGeom>
          <a:solidFill>
            <a:srgbClr val="131826"/>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1036930" y="1265530"/>
            <a:ext cx="395021" cy="395021"/>
          </a:xfrm>
          <a:prstGeom prst="rect">
            <a:avLst/>
          </a:prstGeom>
        </p:spPr>
      </p:pic>
      <p:pic>
        <p:nvPicPr>
          <p:cNvPr id="6" name="Image 1" descr="preencoded.png"/>
          <p:cNvPicPr>
            <a:picLocks noChangeAspect="1"/>
          </p:cNvPicPr>
          <p:nvPr/>
        </p:nvPicPr>
        <p:blipFill>
          <a:blip r:embed="rId3"/>
          <a:stretch>
            <a:fillRect/>
          </a:stretch>
        </p:blipFill>
        <p:spPr>
          <a:xfrm>
            <a:off x="1033272" y="1261872"/>
            <a:ext cx="402336" cy="402336"/>
          </a:xfrm>
          <a:prstGeom prst="rect">
            <a:avLst/>
          </a:prstGeom>
        </p:spPr>
      </p:pic>
      <p:sp>
        <p:nvSpPr>
          <p:cNvPr id="7" name="Text 3"/>
          <p:cNvSpPr/>
          <p:nvPr/>
        </p:nvSpPr>
        <p:spPr>
          <a:xfrm>
            <a:off x="1828800" y="1097280"/>
            <a:ext cx="8229600" cy="365760"/>
          </a:xfrm>
          <a:prstGeom prst="rect">
            <a:avLst/>
          </a:prstGeom>
          <a:noFill/>
          <a:ln/>
        </p:spPr>
        <p:txBody>
          <a:bodyPr wrap="square" lIns="0" tIns="0" rIns="0" bIns="0" rtlCol="0" anchor="ctr"/>
          <a:lstStyle/>
          <a:p>
            <a:pPr marL="0" indent="0">
              <a:buNone/>
            </a:pPr>
            <a:r>
              <a:rPr lang="en-US" sz="1400" b="1" kern="0" spc="300" dirty="0">
                <a:solidFill>
                  <a:srgbClr val="00A896"/>
                </a:solidFill>
                <a:latin typeface="Calibri" pitchFamily="34" charset="0"/>
                <a:ea typeface="Calibri" pitchFamily="34" charset="-122"/>
                <a:cs typeface="Calibri" pitchFamily="34" charset="-120"/>
              </a:rPr>
              <a:t>AI-POWERED PROCUREMENT AUTOMATION</a:t>
            </a:r>
            <a:endParaRPr lang="en-US" sz="1400" dirty="0"/>
          </a:p>
        </p:txBody>
      </p:sp>
      <p:sp>
        <p:nvSpPr>
          <p:cNvPr id="8" name="Text 4"/>
          <p:cNvSpPr/>
          <p:nvPr/>
        </p:nvSpPr>
        <p:spPr>
          <a:xfrm>
            <a:off x="822960" y="2514600"/>
            <a:ext cx="10515600" cy="128016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Invoice-PO Guardian</a:t>
            </a:r>
            <a:endParaRPr lang="en-US" sz="5400" dirty="0"/>
          </a:p>
        </p:txBody>
      </p:sp>
      <p:sp>
        <p:nvSpPr>
          <p:cNvPr id="9" name="Text 5"/>
          <p:cNvSpPr/>
          <p:nvPr/>
        </p:nvSpPr>
        <p:spPr>
          <a:xfrm>
            <a:off x="822960" y="3611880"/>
            <a:ext cx="8412480" cy="822960"/>
          </a:xfrm>
          <a:prstGeom prst="rect">
            <a:avLst/>
          </a:prstGeom>
          <a:noFill/>
          <a:ln/>
        </p:spPr>
        <p:txBody>
          <a:bodyPr wrap="square" lIns="0" tIns="0" rIns="0" bIns="0" rtlCol="0" anchor="ctr"/>
          <a:lstStyle/>
          <a:p>
            <a:pPr marL="0" indent="0">
              <a:lnSpc>
                <a:spcPct val="120000"/>
              </a:lnSpc>
              <a:buNone/>
            </a:pPr>
            <a:r>
              <a:rPr lang="en-US" sz="1600" dirty="0">
                <a:solidFill>
                  <a:srgbClr val="94A3B8"/>
                </a:solidFill>
                <a:latin typeface="Calibri" pitchFamily="34" charset="0"/>
                <a:ea typeface="Calibri" pitchFamily="34" charset="-122"/>
                <a:cs typeface="Calibri" pitchFamily="34" charset="-120"/>
              </a:rPr>
              <a:t>An intelligent pipeline that extracts, matches, and validates supplier invoices against Purchase Orders — with automatic discrepancy detection and tiered approval routing.</a:t>
            </a:r>
            <a:endParaRPr lang="en-US" sz="1600" dirty="0"/>
          </a:p>
        </p:txBody>
      </p:sp>
      <p:sp>
        <p:nvSpPr>
          <p:cNvPr id="10" name="Shape 6"/>
          <p:cNvSpPr/>
          <p:nvPr/>
        </p:nvSpPr>
        <p:spPr>
          <a:xfrm>
            <a:off x="822960" y="4709160"/>
            <a:ext cx="4114800" cy="0"/>
          </a:xfrm>
          <a:prstGeom prst="line">
            <a:avLst/>
          </a:prstGeom>
          <a:noFill/>
          <a:ln w="12700">
            <a:solidFill>
              <a:srgbClr val="1A2133"/>
            </a:solidFill>
            <a:prstDash val="solid"/>
          </a:ln>
        </p:spPr>
        <p:txBody>
          <a:bodyPr/>
          <a:lstStyle/>
          <a:p>
            <a:endParaRPr lang="en-IN"/>
          </a:p>
        </p:txBody>
      </p:sp>
      <p:sp>
        <p:nvSpPr>
          <p:cNvPr id="11" name="Text 7"/>
          <p:cNvSpPr/>
          <p:nvPr/>
        </p:nvSpPr>
        <p:spPr>
          <a:xfrm>
            <a:off x="822960" y="4892040"/>
            <a:ext cx="8229600" cy="640080"/>
          </a:xfrm>
          <a:prstGeom prst="rect">
            <a:avLst/>
          </a:prstGeom>
          <a:noFill/>
          <a:ln/>
        </p:spPr>
        <p:txBody>
          <a:bodyPr wrap="square" lIns="0" tIns="0" rIns="0" bIns="0" rtlCol="0" anchor="ctr"/>
          <a:lstStyle/>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Built for AnthraSync — AI Engineer Assignment, Round 3</a:t>
            </a:r>
            <a:endParaRPr lang="en-US" sz="1200" dirty="0"/>
          </a:p>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Python · FastAPI · React · Groq (Llama 3.3) · SQLite · Airtable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7"/>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THE BUSINESS PROBLEM</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Manual invoice reconciliation doesn't scale</a:t>
            </a:r>
            <a:endParaRPr lang="en-US" sz="3200" dirty="0"/>
          </a:p>
        </p:txBody>
      </p:sp>
      <p:sp>
        <p:nvSpPr>
          <p:cNvPr id="4" name="Text 2"/>
          <p:cNvSpPr/>
          <p:nvPr/>
        </p:nvSpPr>
        <p:spPr>
          <a:xfrm>
            <a:off x="548640" y="1600200"/>
            <a:ext cx="10789920" cy="685800"/>
          </a:xfrm>
          <a:prstGeom prst="rect">
            <a:avLst/>
          </a:prstGeom>
          <a:noFill/>
          <a:ln/>
        </p:spPr>
        <p:txBody>
          <a:bodyPr wrap="square" lIns="0" tIns="0" rIns="0" bIns="0" rtlCol="0" anchor="ctr"/>
          <a:lstStyle/>
          <a:p>
            <a:pPr marL="0" indent="0">
              <a:lnSpc>
                <a:spcPct val="125000"/>
              </a:lnSpc>
              <a:buNone/>
            </a:pPr>
            <a:r>
              <a:rPr lang="en-US" sz="1500" dirty="0">
                <a:solidFill>
                  <a:srgbClr val="94A3B8"/>
                </a:solidFill>
                <a:latin typeface="Calibri" pitchFamily="34" charset="0"/>
                <a:ea typeface="Calibri" pitchFamily="34" charset="-122"/>
                <a:cs typeface="Calibri" pitchFamily="34" charset="-120"/>
              </a:rPr>
              <a:t>Procurement teams receive supplier invoices by email and manually cross-check every line against approved Purchase Orders before payment. This process is slow, error-prone, and leaves no consistent audit trail.</a:t>
            </a:r>
            <a:endParaRPr lang="en-US" sz="1500" dirty="0"/>
          </a:p>
        </p:txBody>
      </p:sp>
      <p:sp>
        <p:nvSpPr>
          <p:cNvPr id="5" name="Shape 3"/>
          <p:cNvSpPr/>
          <p:nvPr/>
        </p:nvSpPr>
        <p:spPr>
          <a:xfrm>
            <a:off x="548640" y="2606040"/>
            <a:ext cx="2542032" cy="2880360"/>
          </a:xfrm>
          <a:prstGeom prst="roundRect">
            <a:avLst>
              <a:gd name="adj" fmla="val 323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6" name="Shape 4"/>
          <p:cNvSpPr/>
          <p:nvPr/>
        </p:nvSpPr>
        <p:spPr>
          <a:xfrm>
            <a:off x="804672" y="2898648"/>
            <a:ext cx="640080" cy="640080"/>
          </a:xfrm>
          <a:prstGeom prst="ellipse">
            <a:avLst/>
          </a:prstGeom>
          <a:solidFill>
            <a:srgbClr val="1A2133"/>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971093" y="3065069"/>
            <a:ext cx="307238" cy="307238"/>
          </a:xfrm>
          <a:prstGeom prst="rect">
            <a:avLst/>
          </a:prstGeom>
        </p:spPr>
      </p:pic>
      <p:sp>
        <p:nvSpPr>
          <p:cNvPr id="8" name="Text 5"/>
          <p:cNvSpPr/>
          <p:nvPr/>
        </p:nvSpPr>
        <p:spPr>
          <a:xfrm>
            <a:off x="804672" y="3703320"/>
            <a:ext cx="2029968"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Slow Turnaround</a:t>
            </a:r>
            <a:endParaRPr lang="en-US" sz="1600" dirty="0"/>
          </a:p>
        </p:txBody>
      </p:sp>
      <p:sp>
        <p:nvSpPr>
          <p:cNvPr id="9" name="Text 6"/>
          <p:cNvSpPr/>
          <p:nvPr/>
        </p:nvSpPr>
        <p:spPr>
          <a:xfrm>
            <a:off x="804672" y="4206240"/>
            <a:ext cx="2029968" cy="1097280"/>
          </a:xfrm>
          <a:prstGeom prst="rect">
            <a:avLst/>
          </a:prstGeom>
          <a:noFill/>
          <a:ln/>
        </p:spPr>
        <p:txBody>
          <a:bodyPr wrap="square" lIns="0" tIns="0" rIns="0" bIns="0" rtlCol="0" anchor="ctr"/>
          <a:lstStyle/>
          <a:p>
            <a:pPr marL="0" indent="0">
              <a:lnSpc>
                <a:spcPct val="125000"/>
              </a:lnSpc>
              <a:buNone/>
            </a:pPr>
            <a:r>
              <a:rPr lang="en-US" sz="1200" dirty="0">
                <a:solidFill>
                  <a:srgbClr val="94A3B8"/>
                </a:solidFill>
                <a:latin typeface="Calibri" pitchFamily="34" charset="0"/>
                <a:ea typeface="Calibri" pitchFamily="34" charset="-122"/>
                <a:cs typeface="Calibri" pitchFamily="34" charset="-120"/>
              </a:rPr>
              <a:t>Manual review delays payment cycles and strains vendor relationships.</a:t>
            </a:r>
            <a:endParaRPr lang="en-US" sz="1200" dirty="0"/>
          </a:p>
        </p:txBody>
      </p:sp>
      <p:sp>
        <p:nvSpPr>
          <p:cNvPr id="10" name="Shape 7"/>
          <p:cNvSpPr/>
          <p:nvPr/>
        </p:nvSpPr>
        <p:spPr>
          <a:xfrm>
            <a:off x="3310128" y="2606040"/>
            <a:ext cx="2542032" cy="2880360"/>
          </a:xfrm>
          <a:prstGeom prst="roundRect">
            <a:avLst>
              <a:gd name="adj" fmla="val 323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1" name="Shape 8"/>
          <p:cNvSpPr/>
          <p:nvPr/>
        </p:nvSpPr>
        <p:spPr>
          <a:xfrm>
            <a:off x="3566160" y="2898648"/>
            <a:ext cx="640080" cy="640080"/>
          </a:xfrm>
          <a:prstGeom prst="ellipse">
            <a:avLst/>
          </a:prstGeom>
          <a:solidFill>
            <a:srgbClr val="1A2133"/>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3732581" y="3065069"/>
            <a:ext cx="307238" cy="307238"/>
          </a:xfrm>
          <a:prstGeom prst="rect">
            <a:avLst/>
          </a:prstGeom>
        </p:spPr>
      </p:pic>
      <p:sp>
        <p:nvSpPr>
          <p:cNvPr id="13" name="Text 9"/>
          <p:cNvSpPr/>
          <p:nvPr/>
        </p:nvSpPr>
        <p:spPr>
          <a:xfrm>
            <a:off x="3566160" y="3703320"/>
            <a:ext cx="2029968"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Human Error</a:t>
            </a:r>
            <a:endParaRPr lang="en-US" sz="1600" dirty="0"/>
          </a:p>
        </p:txBody>
      </p:sp>
      <p:sp>
        <p:nvSpPr>
          <p:cNvPr id="14" name="Text 10"/>
          <p:cNvSpPr/>
          <p:nvPr/>
        </p:nvSpPr>
        <p:spPr>
          <a:xfrm>
            <a:off x="3566160" y="4206240"/>
            <a:ext cx="2029968" cy="1097280"/>
          </a:xfrm>
          <a:prstGeom prst="rect">
            <a:avLst/>
          </a:prstGeom>
          <a:noFill/>
          <a:ln/>
        </p:spPr>
        <p:txBody>
          <a:bodyPr wrap="square" lIns="0" tIns="0" rIns="0" bIns="0" rtlCol="0" anchor="ctr"/>
          <a:lstStyle/>
          <a:p>
            <a:pPr marL="0" indent="0">
              <a:lnSpc>
                <a:spcPct val="125000"/>
              </a:lnSpc>
              <a:buNone/>
            </a:pPr>
            <a:r>
              <a:rPr lang="en-US" sz="1200" dirty="0">
                <a:solidFill>
                  <a:srgbClr val="94A3B8"/>
                </a:solidFill>
                <a:latin typeface="Calibri" pitchFamily="34" charset="0"/>
                <a:ea typeface="Calibri" pitchFamily="34" charset="-122"/>
                <a:cs typeface="Calibri" pitchFamily="34" charset="-120"/>
              </a:rPr>
              <a:t>Fatigue-driven mistakes in reading quantities, prices, and totals.</a:t>
            </a:r>
            <a:endParaRPr lang="en-US" sz="1200" dirty="0"/>
          </a:p>
        </p:txBody>
      </p:sp>
      <p:sp>
        <p:nvSpPr>
          <p:cNvPr id="15" name="Shape 11"/>
          <p:cNvSpPr/>
          <p:nvPr/>
        </p:nvSpPr>
        <p:spPr>
          <a:xfrm>
            <a:off x="6071616" y="2606040"/>
            <a:ext cx="2542032" cy="2880360"/>
          </a:xfrm>
          <a:prstGeom prst="roundRect">
            <a:avLst>
              <a:gd name="adj" fmla="val 323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6" name="Shape 12"/>
          <p:cNvSpPr/>
          <p:nvPr/>
        </p:nvSpPr>
        <p:spPr>
          <a:xfrm>
            <a:off x="6327648" y="2898648"/>
            <a:ext cx="640080" cy="640080"/>
          </a:xfrm>
          <a:prstGeom prst="ellipse">
            <a:avLst/>
          </a:prstGeom>
          <a:solidFill>
            <a:srgbClr val="1A2133"/>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6494069" y="3065069"/>
            <a:ext cx="307238" cy="307238"/>
          </a:xfrm>
          <a:prstGeom prst="rect">
            <a:avLst/>
          </a:prstGeom>
        </p:spPr>
      </p:pic>
      <p:sp>
        <p:nvSpPr>
          <p:cNvPr id="18" name="Text 13"/>
          <p:cNvSpPr/>
          <p:nvPr/>
        </p:nvSpPr>
        <p:spPr>
          <a:xfrm>
            <a:off x="6327648" y="3703320"/>
            <a:ext cx="2029968"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Fraud &amp; Duplicates</a:t>
            </a:r>
            <a:endParaRPr lang="en-US" sz="1600" dirty="0"/>
          </a:p>
        </p:txBody>
      </p:sp>
      <p:sp>
        <p:nvSpPr>
          <p:cNvPr id="19" name="Text 14"/>
          <p:cNvSpPr/>
          <p:nvPr/>
        </p:nvSpPr>
        <p:spPr>
          <a:xfrm>
            <a:off x="6327648" y="4206240"/>
            <a:ext cx="2029968" cy="1097280"/>
          </a:xfrm>
          <a:prstGeom prst="rect">
            <a:avLst/>
          </a:prstGeom>
          <a:noFill/>
          <a:ln/>
        </p:spPr>
        <p:txBody>
          <a:bodyPr wrap="square" lIns="0" tIns="0" rIns="0" bIns="0" rtlCol="0" anchor="ctr"/>
          <a:lstStyle/>
          <a:p>
            <a:pPr marL="0" indent="0">
              <a:lnSpc>
                <a:spcPct val="125000"/>
              </a:lnSpc>
              <a:buNone/>
            </a:pPr>
            <a:r>
              <a:rPr lang="en-US" sz="1200" dirty="0">
                <a:solidFill>
                  <a:srgbClr val="94A3B8"/>
                </a:solidFill>
                <a:latin typeface="Calibri" pitchFamily="34" charset="0"/>
                <a:ea typeface="Calibri" pitchFamily="34" charset="-122"/>
                <a:cs typeface="Calibri" pitchFamily="34" charset="-120"/>
              </a:rPr>
              <a:t>Duplicate or inflated invoices can slip through unnoticed.</a:t>
            </a:r>
            <a:endParaRPr lang="en-US" sz="1200" dirty="0"/>
          </a:p>
        </p:txBody>
      </p:sp>
      <p:sp>
        <p:nvSpPr>
          <p:cNvPr id="20" name="Shape 15"/>
          <p:cNvSpPr/>
          <p:nvPr/>
        </p:nvSpPr>
        <p:spPr>
          <a:xfrm>
            <a:off x="8833104" y="2606040"/>
            <a:ext cx="2542032" cy="2880360"/>
          </a:xfrm>
          <a:prstGeom prst="roundRect">
            <a:avLst>
              <a:gd name="adj" fmla="val 323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21" name="Shape 16"/>
          <p:cNvSpPr/>
          <p:nvPr/>
        </p:nvSpPr>
        <p:spPr>
          <a:xfrm>
            <a:off x="9089136" y="2898648"/>
            <a:ext cx="640080" cy="640080"/>
          </a:xfrm>
          <a:prstGeom prst="ellipse">
            <a:avLst/>
          </a:prstGeom>
          <a:solidFill>
            <a:srgbClr val="1A2133"/>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9255557" y="3065069"/>
            <a:ext cx="307238" cy="307238"/>
          </a:xfrm>
          <a:prstGeom prst="rect">
            <a:avLst/>
          </a:prstGeom>
        </p:spPr>
      </p:pic>
      <p:sp>
        <p:nvSpPr>
          <p:cNvPr id="23" name="Text 17"/>
          <p:cNvSpPr/>
          <p:nvPr/>
        </p:nvSpPr>
        <p:spPr>
          <a:xfrm>
            <a:off x="9089136" y="3703320"/>
            <a:ext cx="2029968"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No Audit Trail</a:t>
            </a:r>
            <a:endParaRPr lang="en-US" sz="1600" dirty="0"/>
          </a:p>
        </p:txBody>
      </p:sp>
      <p:sp>
        <p:nvSpPr>
          <p:cNvPr id="24" name="Text 18"/>
          <p:cNvSpPr/>
          <p:nvPr/>
        </p:nvSpPr>
        <p:spPr>
          <a:xfrm>
            <a:off x="9089136" y="4206240"/>
            <a:ext cx="2029968" cy="1097280"/>
          </a:xfrm>
          <a:prstGeom prst="rect">
            <a:avLst/>
          </a:prstGeom>
          <a:noFill/>
          <a:ln/>
        </p:spPr>
        <p:txBody>
          <a:bodyPr wrap="square" lIns="0" tIns="0" rIns="0" bIns="0" rtlCol="0" anchor="ctr"/>
          <a:lstStyle/>
          <a:p>
            <a:pPr marL="0" indent="0">
              <a:lnSpc>
                <a:spcPct val="125000"/>
              </a:lnSpc>
              <a:buNone/>
            </a:pPr>
            <a:r>
              <a:rPr lang="en-US" sz="1200" dirty="0">
                <a:solidFill>
                  <a:srgbClr val="94A3B8"/>
                </a:solidFill>
                <a:latin typeface="Calibri" pitchFamily="34" charset="0"/>
                <a:ea typeface="Calibri" pitchFamily="34" charset="-122"/>
                <a:cs typeface="Calibri" pitchFamily="34" charset="-120"/>
              </a:rPr>
              <a:t>Approvals happen ad hoc, with little record of who decided what, and why.</a:t>
            </a:r>
            <a:endParaRPr lang="en-US" sz="1200" dirty="0"/>
          </a:p>
        </p:txBody>
      </p:sp>
      <p:sp>
        <p:nvSpPr>
          <p:cNvPr id="26" name="Text 19"/>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27"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7"/>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One pipeline, from inbox to payment decision</a:t>
            </a:r>
            <a:endParaRPr lang="en-US" sz="3200" dirty="0"/>
          </a:p>
        </p:txBody>
      </p:sp>
      <p:sp>
        <p:nvSpPr>
          <p:cNvPr id="4" name="Text 2"/>
          <p:cNvSpPr/>
          <p:nvPr/>
        </p:nvSpPr>
        <p:spPr>
          <a:xfrm>
            <a:off x="548640" y="1554480"/>
            <a:ext cx="10789920" cy="640080"/>
          </a:xfrm>
          <a:prstGeom prst="rect">
            <a:avLst/>
          </a:prstGeom>
          <a:noFill/>
          <a:ln/>
        </p:spPr>
        <p:txBody>
          <a:bodyPr wrap="square" lIns="0" tIns="0" rIns="0" bIns="0" rtlCol="0" anchor="ctr"/>
          <a:lstStyle/>
          <a:p>
            <a:pPr marL="0" indent="0">
              <a:lnSpc>
                <a:spcPct val="125000"/>
              </a:lnSpc>
              <a:buNone/>
            </a:pPr>
            <a:r>
              <a:rPr lang="en-US" sz="1500" dirty="0">
                <a:solidFill>
                  <a:srgbClr val="94A3B8"/>
                </a:solidFill>
                <a:latin typeface="Calibri" pitchFamily="34" charset="0"/>
                <a:ea typeface="Calibri" pitchFamily="34" charset="-122"/>
                <a:cs typeface="Calibri" pitchFamily="34" charset="-120"/>
              </a:rPr>
              <a:t>Invoice-PO Guardian acts as a code-based equivalent to tools like n8n — a fully automated, auditable pipeline that reads unstructured invoices, understands them with an LLM, and applies consistent business rules every time.</a:t>
            </a:r>
            <a:endParaRPr lang="en-US" sz="1500" dirty="0"/>
          </a:p>
        </p:txBody>
      </p:sp>
      <p:sp>
        <p:nvSpPr>
          <p:cNvPr id="5" name="Shape 3"/>
          <p:cNvSpPr/>
          <p:nvPr/>
        </p:nvSpPr>
        <p:spPr>
          <a:xfrm>
            <a:off x="1074420" y="3589020"/>
            <a:ext cx="9555480" cy="0"/>
          </a:xfrm>
          <a:prstGeom prst="line">
            <a:avLst/>
          </a:prstGeom>
          <a:noFill/>
          <a:ln w="25400">
            <a:solidFill>
              <a:srgbClr val="1A2133"/>
            </a:solidFill>
            <a:prstDash val="solid"/>
          </a:ln>
        </p:spPr>
        <p:txBody>
          <a:bodyPr/>
          <a:lstStyle/>
          <a:p>
            <a:endParaRPr lang="en-IN"/>
          </a:p>
        </p:txBody>
      </p:sp>
      <p:sp>
        <p:nvSpPr>
          <p:cNvPr id="6" name="Shape 4"/>
          <p:cNvSpPr/>
          <p:nvPr/>
        </p:nvSpPr>
        <p:spPr>
          <a:xfrm>
            <a:off x="548640" y="3063240"/>
            <a:ext cx="1051560" cy="1051560"/>
          </a:xfrm>
          <a:prstGeom prst="ellipse">
            <a:avLst/>
          </a:prstGeom>
          <a:solidFill>
            <a:srgbClr val="131826"/>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822046" y="3336646"/>
            <a:ext cx="504749" cy="504749"/>
          </a:xfrm>
          <a:prstGeom prst="rect">
            <a:avLst/>
          </a:prstGeom>
        </p:spPr>
      </p:pic>
      <p:sp>
        <p:nvSpPr>
          <p:cNvPr id="8" name="Shape 5"/>
          <p:cNvSpPr/>
          <p:nvPr/>
        </p:nvSpPr>
        <p:spPr>
          <a:xfrm>
            <a:off x="548640" y="3063240"/>
            <a:ext cx="1051560" cy="1051560"/>
          </a:xfrm>
          <a:prstGeom prst="ellipse">
            <a:avLst/>
          </a:prstGeom>
          <a:ln w="25400">
            <a:solidFill>
              <a:srgbClr val="00A896"/>
            </a:solidFill>
            <a:prstDash val="solid"/>
          </a:ln>
        </p:spPr>
        <p:txBody>
          <a:bodyPr/>
          <a:lstStyle/>
          <a:p>
            <a:endParaRPr lang="en-IN"/>
          </a:p>
        </p:txBody>
      </p:sp>
      <p:sp>
        <p:nvSpPr>
          <p:cNvPr id="9" name="Text 6"/>
          <p:cNvSpPr/>
          <p:nvPr/>
        </p:nvSpPr>
        <p:spPr>
          <a:xfrm>
            <a:off x="228600" y="4251960"/>
            <a:ext cx="169164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Ingest</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Email</a:t>
            </a:r>
            <a:endParaRPr lang="en-US" sz="1150" dirty="0"/>
          </a:p>
        </p:txBody>
      </p:sp>
      <p:sp>
        <p:nvSpPr>
          <p:cNvPr id="10" name="Text 7"/>
          <p:cNvSpPr/>
          <p:nvPr/>
        </p:nvSpPr>
        <p:spPr>
          <a:xfrm>
            <a:off x="1344168" y="2953512"/>
            <a:ext cx="365760" cy="365760"/>
          </a:xfrm>
          <a:prstGeom prst="ellipse">
            <a:avLst/>
          </a:prstGeom>
          <a:solidFill>
            <a:srgbClr val="02C39A"/>
          </a:solidFill>
          <a:ln/>
        </p:spPr>
        <p:txBody>
          <a:bodyPr wrap="square" lIns="0" tIns="0" rIns="0" bIns="0" rtlCol="0" anchor="ctr"/>
          <a:lstStyle/>
          <a:p>
            <a:pPr marL="0" indent="0" algn="ctr">
              <a:buNone/>
            </a:pPr>
            <a:r>
              <a:rPr lang="en-US" sz="1200" b="1" dirty="0">
                <a:solidFill>
                  <a:srgbClr val="0A0E17"/>
                </a:solidFill>
              </a:rPr>
              <a:t>1</a:t>
            </a:r>
            <a:endParaRPr lang="en-US" sz="1200" dirty="0"/>
          </a:p>
        </p:txBody>
      </p:sp>
      <p:sp>
        <p:nvSpPr>
          <p:cNvPr id="11" name="Shape 8"/>
          <p:cNvSpPr/>
          <p:nvPr/>
        </p:nvSpPr>
        <p:spPr>
          <a:xfrm>
            <a:off x="2459736" y="3063240"/>
            <a:ext cx="1051560" cy="1051560"/>
          </a:xfrm>
          <a:prstGeom prst="ellipse">
            <a:avLst/>
          </a:prstGeom>
          <a:solidFill>
            <a:srgbClr val="131826"/>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2733142" y="3336646"/>
            <a:ext cx="504749" cy="504749"/>
          </a:xfrm>
          <a:prstGeom prst="rect">
            <a:avLst/>
          </a:prstGeom>
        </p:spPr>
      </p:pic>
      <p:sp>
        <p:nvSpPr>
          <p:cNvPr id="13" name="Shape 9"/>
          <p:cNvSpPr/>
          <p:nvPr/>
        </p:nvSpPr>
        <p:spPr>
          <a:xfrm>
            <a:off x="2459736" y="3063240"/>
            <a:ext cx="1051560" cy="1051560"/>
          </a:xfrm>
          <a:prstGeom prst="ellipse">
            <a:avLst/>
          </a:prstGeom>
          <a:ln w="25400">
            <a:solidFill>
              <a:srgbClr val="00A896"/>
            </a:solidFill>
            <a:prstDash val="solid"/>
          </a:ln>
        </p:spPr>
        <p:txBody>
          <a:bodyPr/>
          <a:lstStyle/>
          <a:p>
            <a:endParaRPr lang="en-IN"/>
          </a:p>
        </p:txBody>
      </p:sp>
      <p:sp>
        <p:nvSpPr>
          <p:cNvPr id="14" name="Text 10"/>
          <p:cNvSpPr/>
          <p:nvPr/>
        </p:nvSpPr>
        <p:spPr>
          <a:xfrm>
            <a:off x="2139696" y="4251960"/>
            <a:ext cx="169164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Extract</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PDF Text</a:t>
            </a:r>
            <a:endParaRPr lang="en-US" sz="1150" dirty="0"/>
          </a:p>
        </p:txBody>
      </p:sp>
      <p:sp>
        <p:nvSpPr>
          <p:cNvPr id="15" name="Text 11"/>
          <p:cNvSpPr/>
          <p:nvPr/>
        </p:nvSpPr>
        <p:spPr>
          <a:xfrm>
            <a:off x="3255264" y="2953512"/>
            <a:ext cx="365760" cy="365760"/>
          </a:xfrm>
          <a:prstGeom prst="ellipse">
            <a:avLst/>
          </a:prstGeom>
          <a:solidFill>
            <a:srgbClr val="02C39A"/>
          </a:solidFill>
          <a:ln/>
        </p:spPr>
        <p:txBody>
          <a:bodyPr wrap="square" lIns="0" tIns="0" rIns="0" bIns="0" rtlCol="0" anchor="ctr"/>
          <a:lstStyle/>
          <a:p>
            <a:pPr marL="0" indent="0" algn="ctr">
              <a:buNone/>
            </a:pPr>
            <a:r>
              <a:rPr lang="en-US" sz="1200" b="1" dirty="0">
                <a:solidFill>
                  <a:srgbClr val="0A0E17"/>
                </a:solidFill>
              </a:rPr>
              <a:t>2</a:t>
            </a:r>
            <a:endParaRPr lang="en-US" sz="1200" dirty="0"/>
          </a:p>
        </p:txBody>
      </p:sp>
      <p:sp>
        <p:nvSpPr>
          <p:cNvPr id="16" name="Shape 12"/>
          <p:cNvSpPr/>
          <p:nvPr/>
        </p:nvSpPr>
        <p:spPr>
          <a:xfrm>
            <a:off x="4370832" y="3063240"/>
            <a:ext cx="1051560" cy="1051560"/>
          </a:xfrm>
          <a:prstGeom prst="ellipse">
            <a:avLst/>
          </a:prstGeom>
          <a:solidFill>
            <a:srgbClr val="131826"/>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4644238" y="3336646"/>
            <a:ext cx="504749" cy="504749"/>
          </a:xfrm>
          <a:prstGeom prst="rect">
            <a:avLst/>
          </a:prstGeom>
        </p:spPr>
      </p:pic>
      <p:sp>
        <p:nvSpPr>
          <p:cNvPr id="18" name="Shape 13"/>
          <p:cNvSpPr/>
          <p:nvPr/>
        </p:nvSpPr>
        <p:spPr>
          <a:xfrm>
            <a:off x="4370832" y="3063240"/>
            <a:ext cx="1051560" cy="1051560"/>
          </a:xfrm>
          <a:prstGeom prst="ellipse">
            <a:avLst/>
          </a:prstGeom>
          <a:ln w="25400">
            <a:solidFill>
              <a:srgbClr val="00A896"/>
            </a:solidFill>
            <a:prstDash val="solid"/>
          </a:ln>
        </p:spPr>
        <p:txBody>
          <a:bodyPr/>
          <a:lstStyle/>
          <a:p>
            <a:endParaRPr lang="en-IN"/>
          </a:p>
        </p:txBody>
      </p:sp>
      <p:sp>
        <p:nvSpPr>
          <p:cNvPr id="19" name="Text 14"/>
          <p:cNvSpPr/>
          <p:nvPr/>
        </p:nvSpPr>
        <p:spPr>
          <a:xfrm>
            <a:off x="4050792" y="4251960"/>
            <a:ext cx="169164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AI</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Extraction</a:t>
            </a:r>
            <a:endParaRPr lang="en-US" sz="1150" dirty="0"/>
          </a:p>
        </p:txBody>
      </p:sp>
      <p:sp>
        <p:nvSpPr>
          <p:cNvPr id="20" name="Text 15"/>
          <p:cNvSpPr/>
          <p:nvPr/>
        </p:nvSpPr>
        <p:spPr>
          <a:xfrm>
            <a:off x="5166360" y="2953512"/>
            <a:ext cx="365760" cy="365760"/>
          </a:xfrm>
          <a:prstGeom prst="ellipse">
            <a:avLst/>
          </a:prstGeom>
          <a:solidFill>
            <a:srgbClr val="02C39A"/>
          </a:solidFill>
          <a:ln/>
        </p:spPr>
        <p:txBody>
          <a:bodyPr wrap="square" lIns="0" tIns="0" rIns="0" bIns="0" rtlCol="0" anchor="ctr"/>
          <a:lstStyle/>
          <a:p>
            <a:pPr marL="0" indent="0" algn="ctr">
              <a:buNone/>
            </a:pPr>
            <a:r>
              <a:rPr lang="en-US" sz="1200" b="1" dirty="0">
                <a:solidFill>
                  <a:srgbClr val="0A0E17"/>
                </a:solidFill>
              </a:rPr>
              <a:t>3</a:t>
            </a:r>
            <a:endParaRPr lang="en-US" sz="1200" dirty="0"/>
          </a:p>
        </p:txBody>
      </p:sp>
      <p:sp>
        <p:nvSpPr>
          <p:cNvPr id="21" name="Shape 16"/>
          <p:cNvSpPr/>
          <p:nvPr/>
        </p:nvSpPr>
        <p:spPr>
          <a:xfrm>
            <a:off x="6281928" y="3063240"/>
            <a:ext cx="1051560" cy="1051560"/>
          </a:xfrm>
          <a:prstGeom prst="ellipse">
            <a:avLst/>
          </a:prstGeom>
          <a:solidFill>
            <a:srgbClr val="131826"/>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6555334" y="3336646"/>
            <a:ext cx="504749" cy="504749"/>
          </a:xfrm>
          <a:prstGeom prst="rect">
            <a:avLst/>
          </a:prstGeom>
        </p:spPr>
      </p:pic>
      <p:sp>
        <p:nvSpPr>
          <p:cNvPr id="23" name="Shape 17"/>
          <p:cNvSpPr/>
          <p:nvPr/>
        </p:nvSpPr>
        <p:spPr>
          <a:xfrm>
            <a:off x="6281928" y="3063240"/>
            <a:ext cx="1051560" cy="1051560"/>
          </a:xfrm>
          <a:prstGeom prst="ellipse">
            <a:avLst/>
          </a:prstGeom>
          <a:ln w="25400">
            <a:solidFill>
              <a:srgbClr val="00A896"/>
            </a:solidFill>
            <a:prstDash val="solid"/>
          </a:ln>
        </p:spPr>
        <p:txBody>
          <a:bodyPr/>
          <a:lstStyle/>
          <a:p>
            <a:endParaRPr lang="en-IN"/>
          </a:p>
        </p:txBody>
      </p:sp>
      <p:sp>
        <p:nvSpPr>
          <p:cNvPr id="24" name="Text 18"/>
          <p:cNvSpPr/>
          <p:nvPr/>
        </p:nvSpPr>
        <p:spPr>
          <a:xfrm>
            <a:off x="5961888" y="4251960"/>
            <a:ext cx="169164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Match</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vs. PO</a:t>
            </a:r>
            <a:endParaRPr lang="en-US" sz="1150" dirty="0"/>
          </a:p>
        </p:txBody>
      </p:sp>
      <p:sp>
        <p:nvSpPr>
          <p:cNvPr id="25" name="Text 19"/>
          <p:cNvSpPr/>
          <p:nvPr/>
        </p:nvSpPr>
        <p:spPr>
          <a:xfrm>
            <a:off x="7077456" y="2953512"/>
            <a:ext cx="365760" cy="365760"/>
          </a:xfrm>
          <a:prstGeom prst="ellipse">
            <a:avLst/>
          </a:prstGeom>
          <a:solidFill>
            <a:srgbClr val="02C39A"/>
          </a:solidFill>
          <a:ln/>
        </p:spPr>
        <p:txBody>
          <a:bodyPr wrap="square" lIns="0" tIns="0" rIns="0" bIns="0" rtlCol="0" anchor="ctr"/>
          <a:lstStyle/>
          <a:p>
            <a:pPr marL="0" indent="0" algn="ctr">
              <a:buNone/>
            </a:pPr>
            <a:r>
              <a:rPr lang="en-US" sz="1200" b="1" dirty="0">
                <a:solidFill>
                  <a:srgbClr val="0A0E17"/>
                </a:solidFill>
              </a:rPr>
              <a:t>4</a:t>
            </a:r>
            <a:endParaRPr lang="en-US" sz="1200" dirty="0"/>
          </a:p>
        </p:txBody>
      </p:sp>
      <p:sp>
        <p:nvSpPr>
          <p:cNvPr id="26" name="Shape 20"/>
          <p:cNvSpPr/>
          <p:nvPr/>
        </p:nvSpPr>
        <p:spPr>
          <a:xfrm>
            <a:off x="8193024" y="3063240"/>
            <a:ext cx="1051560" cy="1051560"/>
          </a:xfrm>
          <a:prstGeom prst="ellipse">
            <a:avLst/>
          </a:prstGeom>
          <a:solidFill>
            <a:srgbClr val="131826"/>
          </a:solidFill>
          <a:ln/>
        </p:spPr>
        <p:txBody>
          <a:bodyPr/>
          <a:lstStyle/>
          <a:p>
            <a:endParaRPr lang="en-IN"/>
          </a:p>
        </p:txBody>
      </p:sp>
      <p:pic>
        <p:nvPicPr>
          <p:cNvPr id="27" name="Image 4" descr="preencoded.png"/>
          <p:cNvPicPr>
            <a:picLocks noChangeAspect="1"/>
          </p:cNvPicPr>
          <p:nvPr/>
        </p:nvPicPr>
        <p:blipFill>
          <a:blip r:embed="rId7"/>
          <a:stretch>
            <a:fillRect/>
          </a:stretch>
        </p:blipFill>
        <p:spPr>
          <a:xfrm>
            <a:off x="8466430" y="3336646"/>
            <a:ext cx="504749" cy="504749"/>
          </a:xfrm>
          <a:prstGeom prst="rect">
            <a:avLst/>
          </a:prstGeom>
        </p:spPr>
      </p:pic>
      <p:sp>
        <p:nvSpPr>
          <p:cNvPr id="28" name="Shape 21"/>
          <p:cNvSpPr/>
          <p:nvPr/>
        </p:nvSpPr>
        <p:spPr>
          <a:xfrm>
            <a:off x="8193024" y="3063240"/>
            <a:ext cx="1051560" cy="1051560"/>
          </a:xfrm>
          <a:prstGeom prst="ellipse">
            <a:avLst/>
          </a:prstGeom>
          <a:ln w="25400">
            <a:solidFill>
              <a:srgbClr val="00A896"/>
            </a:solidFill>
            <a:prstDash val="solid"/>
          </a:ln>
        </p:spPr>
        <p:txBody>
          <a:bodyPr/>
          <a:lstStyle/>
          <a:p>
            <a:endParaRPr lang="en-IN"/>
          </a:p>
        </p:txBody>
      </p:sp>
      <p:sp>
        <p:nvSpPr>
          <p:cNvPr id="29" name="Text 22"/>
          <p:cNvSpPr/>
          <p:nvPr/>
        </p:nvSpPr>
        <p:spPr>
          <a:xfrm>
            <a:off x="7872984" y="4251960"/>
            <a:ext cx="169164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Detect</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Discrepancies</a:t>
            </a:r>
            <a:endParaRPr lang="en-US" sz="1150" dirty="0"/>
          </a:p>
        </p:txBody>
      </p:sp>
      <p:sp>
        <p:nvSpPr>
          <p:cNvPr id="30" name="Text 23"/>
          <p:cNvSpPr/>
          <p:nvPr/>
        </p:nvSpPr>
        <p:spPr>
          <a:xfrm>
            <a:off x="8988552" y="2953512"/>
            <a:ext cx="365760" cy="365760"/>
          </a:xfrm>
          <a:prstGeom prst="ellipse">
            <a:avLst/>
          </a:prstGeom>
          <a:solidFill>
            <a:srgbClr val="02C39A"/>
          </a:solidFill>
          <a:ln/>
        </p:spPr>
        <p:txBody>
          <a:bodyPr wrap="square" lIns="0" tIns="0" rIns="0" bIns="0" rtlCol="0" anchor="ctr"/>
          <a:lstStyle/>
          <a:p>
            <a:pPr marL="0" indent="0" algn="ctr">
              <a:buNone/>
            </a:pPr>
            <a:r>
              <a:rPr lang="en-US" sz="1200" b="1" dirty="0">
                <a:solidFill>
                  <a:srgbClr val="0A0E17"/>
                </a:solidFill>
              </a:rPr>
              <a:t>5</a:t>
            </a:r>
            <a:endParaRPr lang="en-US" sz="1200" dirty="0"/>
          </a:p>
        </p:txBody>
      </p:sp>
      <p:sp>
        <p:nvSpPr>
          <p:cNvPr id="31" name="Shape 24"/>
          <p:cNvSpPr/>
          <p:nvPr/>
        </p:nvSpPr>
        <p:spPr>
          <a:xfrm>
            <a:off x="10104120" y="3063240"/>
            <a:ext cx="1051560" cy="1051560"/>
          </a:xfrm>
          <a:prstGeom prst="ellipse">
            <a:avLst/>
          </a:prstGeom>
          <a:solidFill>
            <a:srgbClr val="131826"/>
          </a:solidFill>
          <a:ln/>
        </p:spPr>
        <p:txBody>
          <a:bodyPr/>
          <a:lstStyle/>
          <a:p>
            <a:endParaRPr lang="en-IN"/>
          </a:p>
        </p:txBody>
      </p:sp>
      <p:pic>
        <p:nvPicPr>
          <p:cNvPr id="32" name="Image 5" descr="preencoded.png"/>
          <p:cNvPicPr>
            <a:picLocks noChangeAspect="1"/>
          </p:cNvPicPr>
          <p:nvPr/>
        </p:nvPicPr>
        <p:blipFill>
          <a:blip r:embed="rId8"/>
          <a:stretch>
            <a:fillRect/>
          </a:stretch>
        </p:blipFill>
        <p:spPr>
          <a:xfrm>
            <a:off x="10377526" y="3336646"/>
            <a:ext cx="504749" cy="504749"/>
          </a:xfrm>
          <a:prstGeom prst="rect">
            <a:avLst/>
          </a:prstGeom>
        </p:spPr>
      </p:pic>
      <p:sp>
        <p:nvSpPr>
          <p:cNvPr id="33" name="Shape 25"/>
          <p:cNvSpPr/>
          <p:nvPr/>
        </p:nvSpPr>
        <p:spPr>
          <a:xfrm>
            <a:off x="10104120" y="3063240"/>
            <a:ext cx="1051560" cy="1051560"/>
          </a:xfrm>
          <a:prstGeom prst="ellipse">
            <a:avLst/>
          </a:prstGeom>
          <a:ln w="25400">
            <a:solidFill>
              <a:srgbClr val="00A896"/>
            </a:solidFill>
            <a:prstDash val="solid"/>
          </a:ln>
        </p:spPr>
        <p:txBody>
          <a:bodyPr/>
          <a:lstStyle/>
          <a:p>
            <a:endParaRPr lang="en-IN"/>
          </a:p>
        </p:txBody>
      </p:sp>
      <p:sp>
        <p:nvSpPr>
          <p:cNvPr id="34" name="Text 26"/>
          <p:cNvSpPr/>
          <p:nvPr/>
        </p:nvSpPr>
        <p:spPr>
          <a:xfrm>
            <a:off x="9784080" y="4251960"/>
            <a:ext cx="1691640"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Route &amp;</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Store</a:t>
            </a:r>
            <a:endParaRPr lang="en-US" sz="1150" dirty="0"/>
          </a:p>
        </p:txBody>
      </p:sp>
      <p:sp>
        <p:nvSpPr>
          <p:cNvPr id="35" name="Text 27"/>
          <p:cNvSpPr/>
          <p:nvPr/>
        </p:nvSpPr>
        <p:spPr>
          <a:xfrm>
            <a:off x="10899648" y="2953512"/>
            <a:ext cx="365760" cy="365760"/>
          </a:xfrm>
          <a:prstGeom prst="ellipse">
            <a:avLst/>
          </a:prstGeom>
          <a:solidFill>
            <a:srgbClr val="02C39A"/>
          </a:solidFill>
          <a:ln/>
        </p:spPr>
        <p:txBody>
          <a:bodyPr wrap="square" lIns="0" tIns="0" rIns="0" bIns="0" rtlCol="0" anchor="ctr"/>
          <a:lstStyle/>
          <a:p>
            <a:pPr marL="0" indent="0" algn="ctr">
              <a:buNone/>
            </a:pPr>
            <a:r>
              <a:rPr lang="en-US" sz="1200" b="1" dirty="0">
                <a:solidFill>
                  <a:srgbClr val="0A0E17"/>
                </a:solidFill>
              </a:rPr>
              <a:t>6</a:t>
            </a:r>
            <a:endParaRPr lang="en-US" sz="1200" dirty="0"/>
          </a:p>
        </p:txBody>
      </p:sp>
      <p:sp>
        <p:nvSpPr>
          <p:cNvPr id="36" name="Shape 28"/>
          <p:cNvSpPr/>
          <p:nvPr/>
        </p:nvSpPr>
        <p:spPr>
          <a:xfrm>
            <a:off x="548640" y="5074920"/>
            <a:ext cx="2542032" cy="1051560"/>
          </a:xfrm>
          <a:prstGeom prst="roundRect">
            <a:avLst>
              <a:gd name="adj" fmla="val 695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37" name="Text 29"/>
          <p:cNvSpPr/>
          <p:nvPr/>
        </p:nvSpPr>
        <p:spPr>
          <a:xfrm>
            <a:off x="731520" y="5166360"/>
            <a:ext cx="2176272" cy="548640"/>
          </a:xfrm>
          <a:prstGeom prst="rect">
            <a:avLst/>
          </a:prstGeom>
          <a:noFill/>
          <a:ln/>
        </p:spPr>
        <p:txBody>
          <a:bodyPr wrap="square" lIns="0" tIns="0" rIns="0" bIns="0" rtlCol="0" anchor="ctr"/>
          <a:lstStyle/>
          <a:p>
            <a:pPr marL="0" indent="0">
              <a:buNone/>
            </a:pPr>
            <a:r>
              <a:rPr lang="en-US" sz="2600" b="1" dirty="0">
                <a:solidFill>
                  <a:srgbClr val="00A896"/>
                </a:solidFill>
                <a:latin typeface="Cambria" pitchFamily="34" charset="0"/>
                <a:ea typeface="Cambria" pitchFamily="34" charset="-122"/>
                <a:cs typeface="Cambria" pitchFamily="34" charset="-120"/>
              </a:rPr>
              <a:t>9</a:t>
            </a:r>
            <a:endParaRPr lang="en-US" sz="2600" dirty="0"/>
          </a:p>
        </p:txBody>
      </p:sp>
      <p:sp>
        <p:nvSpPr>
          <p:cNvPr id="38" name="Text 30"/>
          <p:cNvSpPr/>
          <p:nvPr/>
        </p:nvSpPr>
        <p:spPr>
          <a:xfrm>
            <a:off x="731520" y="5696712"/>
            <a:ext cx="2176272" cy="3657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Pipeline Stages</a:t>
            </a:r>
            <a:endParaRPr lang="en-US" sz="1050" dirty="0"/>
          </a:p>
        </p:txBody>
      </p:sp>
      <p:sp>
        <p:nvSpPr>
          <p:cNvPr id="39" name="Shape 31"/>
          <p:cNvSpPr/>
          <p:nvPr/>
        </p:nvSpPr>
        <p:spPr>
          <a:xfrm>
            <a:off x="3310128" y="5074920"/>
            <a:ext cx="2542032" cy="1051560"/>
          </a:xfrm>
          <a:prstGeom prst="roundRect">
            <a:avLst>
              <a:gd name="adj" fmla="val 695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40" name="Text 32"/>
          <p:cNvSpPr/>
          <p:nvPr/>
        </p:nvSpPr>
        <p:spPr>
          <a:xfrm>
            <a:off x="3493008" y="5166360"/>
            <a:ext cx="2176272" cy="548640"/>
          </a:xfrm>
          <a:prstGeom prst="rect">
            <a:avLst/>
          </a:prstGeom>
          <a:noFill/>
          <a:ln/>
        </p:spPr>
        <p:txBody>
          <a:bodyPr wrap="square" lIns="0" tIns="0" rIns="0" bIns="0" rtlCol="0" anchor="ctr"/>
          <a:lstStyle/>
          <a:p>
            <a:pPr marL="0" indent="0">
              <a:buNone/>
            </a:pPr>
            <a:r>
              <a:rPr lang="en-US" sz="2600" b="1" dirty="0">
                <a:solidFill>
                  <a:srgbClr val="00A896"/>
                </a:solidFill>
                <a:latin typeface="Cambria" pitchFamily="34" charset="0"/>
                <a:ea typeface="Cambria" pitchFamily="34" charset="-122"/>
                <a:cs typeface="Cambria" pitchFamily="34" charset="-120"/>
              </a:rPr>
              <a:t>8</a:t>
            </a:r>
            <a:endParaRPr lang="en-US" sz="2600" dirty="0"/>
          </a:p>
        </p:txBody>
      </p:sp>
      <p:sp>
        <p:nvSpPr>
          <p:cNvPr id="41" name="Text 33"/>
          <p:cNvSpPr/>
          <p:nvPr/>
        </p:nvSpPr>
        <p:spPr>
          <a:xfrm>
            <a:off x="3493008" y="5696712"/>
            <a:ext cx="2176272" cy="3657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Discrepancy Types Detected</a:t>
            </a:r>
            <a:endParaRPr lang="en-US" sz="1050" dirty="0"/>
          </a:p>
        </p:txBody>
      </p:sp>
      <p:sp>
        <p:nvSpPr>
          <p:cNvPr id="42" name="Shape 34"/>
          <p:cNvSpPr/>
          <p:nvPr/>
        </p:nvSpPr>
        <p:spPr>
          <a:xfrm>
            <a:off x="6071616" y="5074920"/>
            <a:ext cx="2542032" cy="1051560"/>
          </a:xfrm>
          <a:prstGeom prst="roundRect">
            <a:avLst>
              <a:gd name="adj" fmla="val 695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43" name="Text 35"/>
          <p:cNvSpPr/>
          <p:nvPr/>
        </p:nvSpPr>
        <p:spPr>
          <a:xfrm>
            <a:off x="6254496" y="5166360"/>
            <a:ext cx="2176272" cy="548640"/>
          </a:xfrm>
          <a:prstGeom prst="rect">
            <a:avLst/>
          </a:prstGeom>
          <a:noFill/>
          <a:ln/>
        </p:spPr>
        <p:txBody>
          <a:bodyPr wrap="square" lIns="0" tIns="0" rIns="0" bIns="0" rtlCol="0" anchor="ctr"/>
          <a:lstStyle/>
          <a:p>
            <a:pPr marL="0" indent="0">
              <a:buNone/>
            </a:pPr>
            <a:r>
              <a:rPr lang="en-US" sz="2600" b="1" dirty="0">
                <a:solidFill>
                  <a:srgbClr val="00A896"/>
                </a:solidFill>
                <a:latin typeface="Cambria" pitchFamily="34" charset="0"/>
                <a:ea typeface="Cambria" pitchFamily="34" charset="-122"/>
                <a:cs typeface="Cambria" pitchFamily="34" charset="-120"/>
              </a:rPr>
              <a:t>±2%</a:t>
            </a:r>
            <a:endParaRPr lang="en-US" sz="2600" dirty="0"/>
          </a:p>
        </p:txBody>
      </p:sp>
      <p:sp>
        <p:nvSpPr>
          <p:cNvPr id="44" name="Text 36"/>
          <p:cNvSpPr/>
          <p:nvPr/>
        </p:nvSpPr>
        <p:spPr>
          <a:xfrm>
            <a:off x="6254496" y="5696712"/>
            <a:ext cx="2176272" cy="3657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Configurable Tolerance</a:t>
            </a:r>
            <a:endParaRPr lang="en-US" sz="1050" dirty="0"/>
          </a:p>
        </p:txBody>
      </p:sp>
      <p:sp>
        <p:nvSpPr>
          <p:cNvPr id="45" name="Shape 37"/>
          <p:cNvSpPr/>
          <p:nvPr/>
        </p:nvSpPr>
        <p:spPr>
          <a:xfrm>
            <a:off x="8833104" y="5074920"/>
            <a:ext cx="2542032" cy="1051560"/>
          </a:xfrm>
          <a:prstGeom prst="roundRect">
            <a:avLst>
              <a:gd name="adj" fmla="val 695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46" name="Text 38"/>
          <p:cNvSpPr/>
          <p:nvPr/>
        </p:nvSpPr>
        <p:spPr>
          <a:xfrm>
            <a:off x="9015984" y="5166360"/>
            <a:ext cx="2176272" cy="548640"/>
          </a:xfrm>
          <a:prstGeom prst="rect">
            <a:avLst/>
          </a:prstGeom>
          <a:noFill/>
          <a:ln/>
        </p:spPr>
        <p:txBody>
          <a:bodyPr wrap="square" lIns="0" tIns="0" rIns="0" bIns="0" rtlCol="0" anchor="ctr"/>
          <a:lstStyle/>
          <a:p>
            <a:pPr marL="0" indent="0">
              <a:buNone/>
            </a:pPr>
            <a:r>
              <a:rPr lang="en-US" sz="2600" b="1" dirty="0">
                <a:solidFill>
                  <a:srgbClr val="00A896"/>
                </a:solidFill>
                <a:latin typeface="Cambria" pitchFamily="34" charset="0"/>
                <a:ea typeface="Cambria" pitchFamily="34" charset="-122"/>
                <a:cs typeface="Cambria" pitchFamily="34" charset="-120"/>
              </a:rPr>
              <a:t>3</a:t>
            </a:r>
            <a:endParaRPr lang="en-US" sz="2600" dirty="0"/>
          </a:p>
        </p:txBody>
      </p:sp>
      <p:sp>
        <p:nvSpPr>
          <p:cNvPr id="47" name="Text 39"/>
          <p:cNvSpPr/>
          <p:nvPr/>
        </p:nvSpPr>
        <p:spPr>
          <a:xfrm>
            <a:off x="9015984" y="5696712"/>
            <a:ext cx="2176272" cy="3657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Outcome Tiers</a:t>
            </a:r>
            <a:endParaRPr lang="en-US" sz="1050" dirty="0"/>
          </a:p>
        </p:txBody>
      </p:sp>
      <p:sp>
        <p:nvSpPr>
          <p:cNvPr id="49" name="Text 40"/>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50" name="Text 4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7"/>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Built on a modern, pragmatic stack</a:t>
            </a:r>
            <a:endParaRPr lang="en-US" sz="3200" dirty="0"/>
          </a:p>
        </p:txBody>
      </p:sp>
      <p:sp>
        <p:nvSpPr>
          <p:cNvPr id="4" name="Shape 2"/>
          <p:cNvSpPr/>
          <p:nvPr/>
        </p:nvSpPr>
        <p:spPr>
          <a:xfrm>
            <a:off x="548640" y="1691640"/>
            <a:ext cx="3456432" cy="1965960"/>
          </a:xfrm>
          <a:prstGeom prst="roundRect">
            <a:avLst>
              <a:gd name="adj" fmla="val 418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5" name="Shape 3"/>
          <p:cNvSpPr/>
          <p:nvPr/>
        </p:nvSpPr>
        <p:spPr>
          <a:xfrm>
            <a:off x="768096" y="1911096"/>
            <a:ext cx="548640" cy="548640"/>
          </a:xfrm>
          <a:prstGeom prst="ellipse">
            <a:avLst/>
          </a:prstGeom>
          <a:solidFill>
            <a:srgbClr val="1A2133"/>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910742" y="2053742"/>
            <a:ext cx="263347" cy="263347"/>
          </a:xfrm>
          <a:prstGeom prst="rect">
            <a:avLst/>
          </a:prstGeom>
        </p:spPr>
      </p:pic>
      <p:sp>
        <p:nvSpPr>
          <p:cNvPr id="7" name="Text 4"/>
          <p:cNvSpPr/>
          <p:nvPr/>
        </p:nvSpPr>
        <p:spPr>
          <a:xfrm>
            <a:off x="1463040" y="1911096"/>
            <a:ext cx="2359152"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Python + FastAPI</a:t>
            </a:r>
            <a:endParaRPr lang="en-US" sz="1450" dirty="0"/>
          </a:p>
        </p:txBody>
      </p:sp>
      <p:sp>
        <p:nvSpPr>
          <p:cNvPr id="8" name="Text 5"/>
          <p:cNvSpPr/>
          <p:nvPr/>
        </p:nvSpPr>
        <p:spPr>
          <a:xfrm>
            <a:off x="768096" y="2560320"/>
            <a:ext cx="3017520" cy="1005840"/>
          </a:xfrm>
          <a:prstGeom prst="rect">
            <a:avLst/>
          </a:prstGeom>
          <a:noFill/>
          <a:ln/>
        </p:spPr>
        <p:txBody>
          <a:bodyPr wrap="square" lIns="0" tIns="0" rIns="0" bIns="0" rtlCol="0" anchor="ctr"/>
          <a:lstStyle/>
          <a:p>
            <a:pPr marL="0" indent="0">
              <a:lnSpc>
                <a:spcPct val="125000"/>
              </a:lnSpc>
              <a:buNone/>
            </a:pPr>
            <a:r>
              <a:rPr lang="en-US" sz="1150" dirty="0">
                <a:solidFill>
                  <a:srgbClr val="94A3B8"/>
                </a:solidFill>
                <a:latin typeface="Calibri" pitchFamily="34" charset="0"/>
                <a:ea typeface="Calibri" pitchFamily="34" charset="-122"/>
                <a:cs typeface="Calibri" pitchFamily="34" charset="-120"/>
              </a:rPr>
              <a:t>Async REST API powering the entire pipeline and review workflow.</a:t>
            </a:r>
            <a:endParaRPr lang="en-US" sz="1150" dirty="0"/>
          </a:p>
        </p:txBody>
      </p:sp>
      <p:sp>
        <p:nvSpPr>
          <p:cNvPr id="9" name="Shape 6"/>
          <p:cNvSpPr/>
          <p:nvPr/>
        </p:nvSpPr>
        <p:spPr>
          <a:xfrm>
            <a:off x="4178808" y="1691640"/>
            <a:ext cx="3456432" cy="1965960"/>
          </a:xfrm>
          <a:prstGeom prst="roundRect">
            <a:avLst>
              <a:gd name="adj" fmla="val 418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0" name="Shape 7"/>
          <p:cNvSpPr/>
          <p:nvPr/>
        </p:nvSpPr>
        <p:spPr>
          <a:xfrm>
            <a:off x="4398264" y="1911096"/>
            <a:ext cx="548640" cy="548640"/>
          </a:xfrm>
          <a:prstGeom prst="ellipse">
            <a:avLst/>
          </a:prstGeom>
          <a:solidFill>
            <a:srgbClr val="1A2133"/>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540910" y="2053742"/>
            <a:ext cx="263347" cy="263347"/>
          </a:xfrm>
          <a:prstGeom prst="rect">
            <a:avLst/>
          </a:prstGeom>
        </p:spPr>
      </p:pic>
      <p:sp>
        <p:nvSpPr>
          <p:cNvPr id="12" name="Text 8"/>
          <p:cNvSpPr/>
          <p:nvPr/>
        </p:nvSpPr>
        <p:spPr>
          <a:xfrm>
            <a:off x="5093208" y="1911096"/>
            <a:ext cx="2359152"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React Dashboard</a:t>
            </a:r>
            <a:endParaRPr lang="en-US" sz="1450" dirty="0"/>
          </a:p>
        </p:txBody>
      </p:sp>
      <p:sp>
        <p:nvSpPr>
          <p:cNvPr id="13" name="Text 9"/>
          <p:cNvSpPr/>
          <p:nvPr/>
        </p:nvSpPr>
        <p:spPr>
          <a:xfrm>
            <a:off x="4398264" y="2560320"/>
            <a:ext cx="3017520" cy="1005840"/>
          </a:xfrm>
          <a:prstGeom prst="rect">
            <a:avLst/>
          </a:prstGeom>
          <a:noFill/>
          <a:ln/>
        </p:spPr>
        <p:txBody>
          <a:bodyPr wrap="square" lIns="0" tIns="0" rIns="0" bIns="0" rtlCol="0" anchor="ctr"/>
          <a:lstStyle/>
          <a:p>
            <a:pPr marL="0" indent="0">
              <a:lnSpc>
                <a:spcPct val="125000"/>
              </a:lnSpc>
              <a:buNone/>
            </a:pPr>
            <a:r>
              <a:rPr lang="en-US" sz="1150" dirty="0">
                <a:solidFill>
                  <a:srgbClr val="94A3B8"/>
                </a:solidFill>
                <a:latin typeface="Calibri" pitchFamily="34" charset="0"/>
                <a:ea typeface="Calibri" pitchFamily="34" charset="-122"/>
                <a:cs typeface="Calibri" pitchFamily="34" charset="-120"/>
              </a:rPr>
              <a:t>Live invoice queue, side-by-side PO comparison, and audit trail views.</a:t>
            </a:r>
            <a:endParaRPr lang="en-US" sz="1150" dirty="0"/>
          </a:p>
        </p:txBody>
      </p:sp>
      <p:sp>
        <p:nvSpPr>
          <p:cNvPr id="14" name="Shape 10"/>
          <p:cNvSpPr/>
          <p:nvPr/>
        </p:nvSpPr>
        <p:spPr>
          <a:xfrm>
            <a:off x="7808976" y="1691640"/>
            <a:ext cx="3456432" cy="1965960"/>
          </a:xfrm>
          <a:prstGeom prst="roundRect">
            <a:avLst>
              <a:gd name="adj" fmla="val 418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5" name="Shape 11"/>
          <p:cNvSpPr/>
          <p:nvPr/>
        </p:nvSpPr>
        <p:spPr>
          <a:xfrm>
            <a:off x="8028432" y="1911096"/>
            <a:ext cx="548640" cy="548640"/>
          </a:xfrm>
          <a:prstGeom prst="ellipse">
            <a:avLst/>
          </a:prstGeom>
          <a:solidFill>
            <a:srgbClr val="1A2133"/>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8171078" y="2053742"/>
            <a:ext cx="263347" cy="263347"/>
          </a:xfrm>
          <a:prstGeom prst="rect">
            <a:avLst/>
          </a:prstGeom>
        </p:spPr>
      </p:pic>
      <p:sp>
        <p:nvSpPr>
          <p:cNvPr id="17" name="Text 12"/>
          <p:cNvSpPr/>
          <p:nvPr/>
        </p:nvSpPr>
        <p:spPr>
          <a:xfrm>
            <a:off x="8723376" y="1911096"/>
            <a:ext cx="2359152"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Groq — Llama 3.3 70B</a:t>
            </a:r>
            <a:endParaRPr lang="en-US" sz="1450" dirty="0"/>
          </a:p>
        </p:txBody>
      </p:sp>
      <p:sp>
        <p:nvSpPr>
          <p:cNvPr id="18" name="Text 13"/>
          <p:cNvSpPr/>
          <p:nvPr/>
        </p:nvSpPr>
        <p:spPr>
          <a:xfrm>
            <a:off x="8028432" y="2560320"/>
            <a:ext cx="3017520" cy="1005840"/>
          </a:xfrm>
          <a:prstGeom prst="rect">
            <a:avLst/>
          </a:prstGeom>
          <a:noFill/>
          <a:ln/>
        </p:spPr>
        <p:txBody>
          <a:bodyPr wrap="square" lIns="0" tIns="0" rIns="0" bIns="0" rtlCol="0" anchor="ctr"/>
          <a:lstStyle/>
          <a:p>
            <a:pPr marL="0" indent="0">
              <a:lnSpc>
                <a:spcPct val="125000"/>
              </a:lnSpc>
              <a:buNone/>
            </a:pPr>
            <a:r>
              <a:rPr lang="en-US" sz="1150" dirty="0">
                <a:solidFill>
                  <a:srgbClr val="94A3B8"/>
                </a:solidFill>
                <a:latin typeface="Calibri" pitchFamily="34" charset="0"/>
                <a:ea typeface="Calibri" pitchFamily="34" charset="-122"/>
                <a:cs typeface="Calibri" pitchFamily="34" charset="-120"/>
              </a:rPr>
              <a:t>Fast, low-cost LLM inference for structured invoice extraction.</a:t>
            </a:r>
            <a:endParaRPr lang="en-US" sz="1150" dirty="0"/>
          </a:p>
        </p:txBody>
      </p:sp>
      <p:sp>
        <p:nvSpPr>
          <p:cNvPr id="19" name="Shape 14"/>
          <p:cNvSpPr/>
          <p:nvPr/>
        </p:nvSpPr>
        <p:spPr>
          <a:xfrm>
            <a:off x="548640" y="3840480"/>
            <a:ext cx="3456432" cy="1965960"/>
          </a:xfrm>
          <a:prstGeom prst="roundRect">
            <a:avLst>
              <a:gd name="adj" fmla="val 418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20" name="Shape 15"/>
          <p:cNvSpPr/>
          <p:nvPr/>
        </p:nvSpPr>
        <p:spPr>
          <a:xfrm>
            <a:off x="768096" y="4059936"/>
            <a:ext cx="548640" cy="548640"/>
          </a:xfrm>
          <a:prstGeom prst="ellipse">
            <a:avLst/>
          </a:prstGeom>
          <a:solidFill>
            <a:srgbClr val="1A2133"/>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910742" y="4202582"/>
            <a:ext cx="263347" cy="263347"/>
          </a:xfrm>
          <a:prstGeom prst="rect">
            <a:avLst/>
          </a:prstGeom>
        </p:spPr>
      </p:pic>
      <p:sp>
        <p:nvSpPr>
          <p:cNvPr id="22" name="Text 16"/>
          <p:cNvSpPr/>
          <p:nvPr/>
        </p:nvSpPr>
        <p:spPr>
          <a:xfrm>
            <a:off x="1463040" y="4059936"/>
            <a:ext cx="2359152"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SQLite</a:t>
            </a:r>
            <a:endParaRPr lang="en-US" sz="1450" dirty="0"/>
          </a:p>
        </p:txBody>
      </p:sp>
      <p:sp>
        <p:nvSpPr>
          <p:cNvPr id="23" name="Text 17"/>
          <p:cNvSpPr/>
          <p:nvPr/>
        </p:nvSpPr>
        <p:spPr>
          <a:xfrm>
            <a:off x="768096" y="4709160"/>
            <a:ext cx="3017520" cy="1005840"/>
          </a:xfrm>
          <a:prstGeom prst="rect">
            <a:avLst/>
          </a:prstGeom>
          <a:noFill/>
          <a:ln/>
        </p:spPr>
        <p:txBody>
          <a:bodyPr wrap="square" lIns="0" tIns="0" rIns="0" bIns="0" rtlCol="0" anchor="ctr"/>
          <a:lstStyle/>
          <a:p>
            <a:pPr marL="0" indent="0">
              <a:lnSpc>
                <a:spcPct val="125000"/>
              </a:lnSpc>
              <a:buNone/>
            </a:pPr>
            <a:r>
              <a:rPr lang="en-US" sz="1150" dirty="0">
                <a:solidFill>
                  <a:srgbClr val="94A3B8"/>
                </a:solidFill>
                <a:latin typeface="Calibri" pitchFamily="34" charset="0"/>
                <a:ea typeface="Calibri" pitchFamily="34" charset="-122"/>
                <a:cs typeface="Calibri" pitchFamily="34" charset="-120"/>
              </a:rPr>
              <a:t>Local relational store for invoices, POs, users, and audit logs.</a:t>
            </a:r>
            <a:endParaRPr lang="en-US" sz="1150" dirty="0"/>
          </a:p>
        </p:txBody>
      </p:sp>
      <p:sp>
        <p:nvSpPr>
          <p:cNvPr id="24" name="Shape 18"/>
          <p:cNvSpPr/>
          <p:nvPr/>
        </p:nvSpPr>
        <p:spPr>
          <a:xfrm>
            <a:off x="4178808" y="3840480"/>
            <a:ext cx="3456432" cy="1965960"/>
          </a:xfrm>
          <a:prstGeom prst="roundRect">
            <a:avLst>
              <a:gd name="adj" fmla="val 418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25" name="Shape 19"/>
          <p:cNvSpPr/>
          <p:nvPr/>
        </p:nvSpPr>
        <p:spPr>
          <a:xfrm>
            <a:off x="4398264" y="4059936"/>
            <a:ext cx="548640" cy="548640"/>
          </a:xfrm>
          <a:prstGeom prst="ellipse">
            <a:avLst/>
          </a:prstGeom>
          <a:solidFill>
            <a:srgbClr val="1A2133"/>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4540910" y="4202582"/>
            <a:ext cx="263347" cy="263347"/>
          </a:xfrm>
          <a:prstGeom prst="rect">
            <a:avLst/>
          </a:prstGeom>
        </p:spPr>
      </p:pic>
      <p:sp>
        <p:nvSpPr>
          <p:cNvPr id="27" name="Text 20"/>
          <p:cNvSpPr/>
          <p:nvPr/>
        </p:nvSpPr>
        <p:spPr>
          <a:xfrm>
            <a:off x="5093208" y="4059936"/>
            <a:ext cx="2359152"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Airtable</a:t>
            </a:r>
            <a:endParaRPr lang="en-US" sz="1450" dirty="0"/>
          </a:p>
        </p:txBody>
      </p:sp>
      <p:sp>
        <p:nvSpPr>
          <p:cNvPr id="28" name="Text 21"/>
          <p:cNvSpPr/>
          <p:nvPr/>
        </p:nvSpPr>
        <p:spPr>
          <a:xfrm>
            <a:off x="4398264" y="4709160"/>
            <a:ext cx="3017520" cy="1005840"/>
          </a:xfrm>
          <a:prstGeom prst="rect">
            <a:avLst/>
          </a:prstGeom>
          <a:noFill/>
          <a:ln/>
        </p:spPr>
        <p:txBody>
          <a:bodyPr wrap="square" lIns="0" tIns="0" rIns="0" bIns="0" rtlCol="0" anchor="ctr"/>
          <a:lstStyle/>
          <a:p>
            <a:pPr marL="0" indent="0">
              <a:lnSpc>
                <a:spcPct val="125000"/>
              </a:lnSpc>
              <a:buNone/>
            </a:pPr>
            <a:r>
              <a:rPr lang="en-US" sz="1150" dirty="0">
                <a:solidFill>
                  <a:srgbClr val="94A3B8"/>
                </a:solidFill>
                <a:latin typeface="Calibri" pitchFamily="34" charset="0"/>
                <a:ea typeface="Calibri" pitchFamily="34" charset="-122"/>
                <a:cs typeface="Calibri" pitchFamily="34" charset="-120"/>
              </a:rPr>
              <a:t>Durable final storage layer, mirroring records for long-term retention.</a:t>
            </a:r>
            <a:endParaRPr lang="en-US" sz="1150" dirty="0"/>
          </a:p>
        </p:txBody>
      </p:sp>
      <p:sp>
        <p:nvSpPr>
          <p:cNvPr id="29" name="Shape 22"/>
          <p:cNvSpPr/>
          <p:nvPr/>
        </p:nvSpPr>
        <p:spPr>
          <a:xfrm>
            <a:off x="7808976" y="3840480"/>
            <a:ext cx="3456432" cy="1965960"/>
          </a:xfrm>
          <a:prstGeom prst="roundRect">
            <a:avLst>
              <a:gd name="adj" fmla="val 418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30" name="Shape 23"/>
          <p:cNvSpPr/>
          <p:nvPr/>
        </p:nvSpPr>
        <p:spPr>
          <a:xfrm>
            <a:off x="8028432" y="4059936"/>
            <a:ext cx="548640" cy="548640"/>
          </a:xfrm>
          <a:prstGeom prst="ellipse">
            <a:avLst/>
          </a:prstGeom>
          <a:solidFill>
            <a:srgbClr val="1A2133"/>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8171078" y="4202582"/>
            <a:ext cx="263347" cy="263347"/>
          </a:xfrm>
          <a:prstGeom prst="rect">
            <a:avLst/>
          </a:prstGeom>
        </p:spPr>
      </p:pic>
      <p:sp>
        <p:nvSpPr>
          <p:cNvPr id="32" name="Text 24"/>
          <p:cNvSpPr/>
          <p:nvPr/>
        </p:nvSpPr>
        <p:spPr>
          <a:xfrm>
            <a:off x="8723376" y="4059936"/>
            <a:ext cx="2359152"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JWT + bcrypt</a:t>
            </a:r>
            <a:endParaRPr lang="en-US" sz="1450" dirty="0"/>
          </a:p>
        </p:txBody>
      </p:sp>
      <p:sp>
        <p:nvSpPr>
          <p:cNvPr id="33" name="Text 25"/>
          <p:cNvSpPr/>
          <p:nvPr/>
        </p:nvSpPr>
        <p:spPr>
          <a:xfrm>
            <a:off x="8028432" y="4709160"/>
            <a:ext cx="3017520" cy="1005840"/>
          </a:xfrm>
          <a:prstGeom prst="rect">
            <a:avLst/>
          </a:prstGeom>
          <a:noFill/>
          <a:ln/>
        </p:spPr>
        <p:txBody>
          <a:bodyPr wrap="square" lIns="0" tIns="0" rIns="0" bIns="0" rtlCol="0" anchor="ctr"/>
          <a:lstStyle/>
          <a:p>
            <a:pPr marL="0" indent="0">
              <a:lnSpc>
                <a:spcPct val="125000"/>
              </a:lnSpc>
              <a:buNone/>
            </a:pPr>
            <a:r>
              <a:rPr lang="en-US" sz="1150" dirty="0">
                <a:solidFill>
                  <a:srgbClr val="94A3B8"/>
                </a:solidFill>
                <a:latin typeface="Calibri" pitchFamily="34" charset="0"/>
                <a:ea typeface="Calibri" pitchFamily="34" charset="-122"/>
                <a:cs typeface="Calibri" pitchFamily="34" charset="-120"/>
              </a:rPr>
              <a:t>Token-based authentication with hashed credentials and rate limiting.</a:t>
            </a:r>
            <a:endParaRPr lang="en-US" sz="1150" dirty="0"/>
          </a:p>
        </p:txBody>
      </p:sp>
      <p:sp>
        <p:nvSpPr>
          <p:cNvPr id="35" name="Text 26"/>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36"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E17"/>
        </a:solidFill>
        <a:effectLst/>
      </p:bgPr>
    </p:bg>
    <p:spTree>
      <p:nvGrpSpPr>
        <p:cNvPr id="1" name="">
          <a:extLst>
            <a:ext uri="{FF2B5EF4-FFF2-40B4-BE49-F238E27FC236}">
              <a16:creationId xmlns:a16="http://schemas.microsoft.com/office/drawing/2014/main" id="{15BF2B70-B62F-4D07-3769-F3AF13C4769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D814B99-5B5B-EB02-C583-4BA77B7E1E95}"/>
              </a:ext>
            </a:extLst>
          </p:cNvPr>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ARCHITECTURE</a:t>
            </a:r>
            <a:endParaRPr lang="en-US" sz="1300" dirty="0"/>
          </a:p>
        </p:txBody>
      </p:sp>
      <p:sp>
        <p:nvSpPr>
          <p:cNvPr id="35" name="Text 26">
            <a:extLst>
              <a:ext uri="{FF2B5EF4-FFF2-40B4-BE49-F238E27FC236}">
                <a16:creationId xmlns:a16="http://schemas.microsoft.com/office/drawing/2014/main" id="{40C21CD9-0084-8707-5218-B48EAF55CB91}"/>
              </a:ext>
            </a:extLst>
          </p:cNvPr>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36" name="Text 27">
            <a:extLst>
              <a:ext uri="{FF2B5EF4-FFF2-40B4-BE49-F238E27FC236}">
                <a16:creationId xmlns:a16="http://schemas.microsoft.com/office/drawing/2014/main" id="{374F043E-5B0F-7FAD-082D-55A9FB94B708}"/>
              </a:ext>
            </a:extLst>
          </p:cNvPr>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pic>
        <p:nvPicPr>
          <p:cNvPr id="37" name="Picture 36">
            <a:extLst>
              <a:ext uri="{FF2B5EF4-FFF2-40B4-BE49-F238E27FC236}">
                <a16:creationId xmlns:a16="http://schemas.microsoft.com/office/drawing/2014/main" id="{4A6F1B81-3747-7AF1-6FF8-43A2B38B9CE4}"/>
              </a:ext>
            </a:extLst>
          </p:cNvPr>
          <p:cNvPicPr>
            <a:picLocks noChangeAspect="1"/>
          </p:cNvPicPr>
          <p:nvPr/>
        </p:nvPicPr>
        <p:blipFill>
          <a:blip r:embed="rId3"/>
          <a:stretch>
            <a:fillRect/>
          </a:stretch>
        </p:blipFill>
        <p:spPr>
          <a:xfrm>
            <a:off x="2179320" y="937260"/>
            <a:ext cx="7513320" cy="5303520"/>
          </a:xfrm>
          <a:prstGeom prst="rect">
            <a:avLst/>
          </a:prstGeom>
        </p:spPr>
      </p:pic>
    </p:spTree>
    <p:extLst>
      <p:ext uri="{BB962C8B-B14F-4D97-AF65-F5344CB8AC3E}">
        <p14:creationId xmlns:p14="http://schemas.microsoft.com/office/powerpoint/2010/main" val="4157875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E17"/>
        </a:solidFill>
        <a:effectLst/>
      </p:bgPr>
    </p:bg>
    <p:spTree>
      <p:nvGrpSpPr>
        <p:cNvPr id="1" name="">
          <a:extLst>
            <a:ext uri="{FF2B5EF4-FFF2-40B4-BE49-F238E27FC236}">
              <a16:creationId xmlns:a16="http://schemas.microsoft.com/office/drawing/2014/main" id="{F5DE0D76-CE91-E5C2-ACFA-B84FB32D12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F3C396-0705-6D60-BCD8-BCC0503778EB}"/>
              </a:ext>
            </a:extLst>
          </p:cNvPr>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ARCHITECTURE</a:t>
            </a:r>
            <a:endParaRPr lang="en-US" sz="1300" dirty="0"/>
          </a:p>
        </p:txBody>
      </p:sp>
      <p:sp>
        <p:nvSpPr>
          <p:cNvPr id="3" name="Text 1">
            <a:extLst>
              <a:ext uri="{FF2B5EF4-FFF2-40B4-BE49-F238E27FC236}">
                <a16:creationId xmlns:a16="http://schemas.microsoft.com/office/drawing/2014/main" id="{931E12B9-BE8C-4DF8-9DD9-E0385ACBD947}"/>
              </a:ext>
            </a:extLst>
          </p:cNvPr>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Built on a modern, pragmatic stack</a:t>
            </a:r>
            <a:endParaRPr lang="en-US" sz="3200" dirty="0"/>
          </a:p>
        </p:txBody>
      </p:sp>
      <p:sp>
        <p:nvSpPr>
          <p:cNvPr id="35" name="Text 26">
            <a:extLst>
              <a:ext uri="{FF2B5EF4-FFF2-40B4-BE49-F238E27FC236}">
                <a16:creationId xmlns:a16="http://schemas.microsoft.com/office/drawing/2014/main" id="{EE283CB5-D1D6-B517-3A84-2C6D980743D0}"/>
              </a:ext>
            </a:extLst>
          </p:cNvPr>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36" name="Text 27">
            <a:extLst>
              <a:ext uri="{FF2B5EF4-FFF2-40B4-BE49-F238E27FC236}">
                <a16:creationId xmlns:a16="http://schemas.microsoft.com/office/drawing/2014/main" id="{968F8B41-732A-120E-2A10-F606B9900DCA}"/>
              </a:ext>
            </a:extLst>
          </p:cNvPr>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pic>
        <p:nvPicPr>
          <p:cNvPr id="37" name="Picture 36">
            <a:extLst>
              <a:ext uri="{FF2B5EF4-FFF2-40B4-BE49-F238E27FC236}">
                <a16:creationId xmlns:a16="http://schemas.microsoft.com/office/drawing/2014/main" id="{9E155501-2C7E-1AEC-F745-EF45B745D007}"/>
              </a:ext>
            </a:extLst>
          </p:cNvPr>
          <p:cNvPicPr>
            <a:picLocks noChangeAspect="1"/>
          </p:cNvPicPr>
          <p:nvPr/>
        </p:nvPicPr>
        <p:blipFill>
          <a:blip r:embed="rId3"/>
          <a:stretch>
            <a:fillRect/>
          </a:stretch>
        </p:blipFill>
        <p:spPr>
          <a:xfrm>
            <a:off x="1676400" y="1120230"/>
            <a:ext cx="8116956" cy="5490882"/>
          </a:xfrm>
          <a:prstGeom prst="rect">
            <a:avLst/>
          </a:prstGeom>
        </p:spPr>
      </p:pic>
    </p:spTree>
    <p:extLst>
      <p:ext uri="{BB962C8B-B14F-4D97-AF65-F5344CB8AC3E}">
        <p14:creationId xmlns:p14="http://schemas.microsoft.com/office/powerpoint/2010/main" val="488343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A0E17"/>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DEEP DIVE</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pipeline, stage by stage</a:t>
            </a:r>
            <a:endParaRPr lang="en-US" sz="3200" dirty="0"/>
          </a:p>
        </p:txBody>
      </p:sp>
      <p:sp>
        <p:nvSpPr>
          <p:cNvPr id="4" name="Text 2"/>
          <p:cNvSpPr/>
          <p:nvPr/>
        </p:nvSpPr>
        <p:spPr>
          <a:xfrm>
            <a:off x="548640" y="1691640"/>
            <a:ext cx="685800" cy="1051560"/>
          </a:xfrm>
          <a:prstGeom prst="rect">
            <a:avLst/>
          </a:prstGeom>
          <a:noFill/>
          <a:ln/>
        </p:spPr>
        <p:txBody>
          <a:bodyPr wrap="square" lIns="0" tIns="0" rIns="0" bIns="0" rtlCol="0" anchor="t"/>
          <a:lstStyle/>
          <a:p>
            <a:pPr marL="0" indent="0">
              <a:buNone/>
            </a:pPr>
            <a:r>
              <a:rPr lang="en-US" sz="2600" b="1" dirty="0">
                <a:solidFill>
                  <a:srgbClr val="1A2133"/>
                </a:solidFill>
                <a:latin typeface="Cambria" pitchFamily="34" charset="0"/>
                <a:ea typeface="Cambria" pitchFamily="34" charset="-122"/>
                <a:cs typeface="Cambria" pitchFamily="34" charset="-120"/>
              </a:rPr>
              <a:t>01</a:t>
            </a:r>
            <a:endParaRPr lang="en-US" sz="2600" dirty="0"/>
          </a:p>
        </p:txBody>
      </p:sp>
      <p:sp>
        <p:nvSpPr>
          <p:cNvPr id="5" name="Text 3"/>
          <p:cNvSpPr/>
          <p:nvPr/>
        </p:nvSpPr>
        <p:spPr>
          <a:xfrm>
            <a:off x="1234440" y="1691640"/>
            <a:ext cx="45720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Email Ingestion</a:t>
            </a:r>
            <a:endParaRPr lang="en-US" sz="1500" dirty="0"/>
          </a:p>
        </p:txBody>
      </p:sp>
      <p:sp>
        <p:nvSpPr>
          <p:cNvPr id="6" name="Text 4"/>
          <p:cNvSpPr/>
          <p:nvPr/>
        </p:nvSpPr>
        <p:spPr>
          <a:xfrm>
            <a:off x="1234440" y="2039112"/>
            <a:ext cx="4572000" cy="640080"/>
          </a:xfrm>
          <a:prstGeom prst="rect">
            <a:avLst/>
          </a:prstGeom>
          <a:noFill/>
          <a:ln/>
        </p:spPr>
        <p:txBody>
          <a:bodyPr wrap="square" lIns="0" tIns="0" rIns="0" bIns="0" rtlCol="0" anchor="ctr"/>
          <a:lstStyle/>
          <a:p>
            <a:pPr marL="0" indent="0">
              <a:lnSpc>
                <a:spcPct val="120000"/>
              </a:lnSpc>
              <a:buNone/>
            </a:pPr>
            <a:r>
              <a:rPr lang="en-US" sz="1150" dirty="0">
                <a:solidFill>
                  <a:srgbClr val="94A3B8"/>
                </a:solidFill>
                <a:latin typeface="Calibri" pitchFamily="34" charset="0"/>
                <a:ea typeface="Calibri" pitchFamily="34" charset="-122"/>
                <a:cs typeface="Calibri" pitchFamily="34" charset="-120"/>
              </a:rPr>
              <a:t>Simulated folder watcher &amp; IMAP fetcher detect new invoice emails and PDF attachments.</a:t>
            </a:r>
            <a:endParaRPr lang="en-US" sz="1150" dirty="0"/>
          </a:p>
        </p:txBody>
      </p:sp>
      <p:sp>
        <p:nvSpPr>
          <p:cNvPr id="7" name="Text 5"/>
          <p:cNvSpPr/>
          <p:nvPr/>
        </p:nvSpPr>
        <p:spPr>
          <a:xfrm>
            <a:off x="548640" y="2880360"/>
            <a:ext cx="685800" cy="1051560"/>
          </a:xfrm>
          <a:prstGeom prst="rect">
            <a:avLst/>
          </a:prstGeom>
          <a:noFill/>
          <a:ln/>
        </p:spPr>
        <p:txBody>
          <a:bodyPr wrap="square" lIns="0" tIns="0" rIns="0" bIns="0" rtlCol="0" anchor="t"/>
          <a:lstStyle/>
          <a:p>
            <a:pPr marL="0" indent="0">
              <a:buNone/>
            </a:pPr>
            <a:r>
              <a:rPr lang="en-US" sz="2600" b="1" dirty="0">
                <a:solidFill>
                  <a:srgbClr val="1A2133"/>
                </a:solidFill>
                <a:latin typeface="Cambria" pitchFamily="34" charset="0"/>
                <a:ea typeface="Cambria" pitchFamily="34" charset="-122"/>
                <a:cs typeface="Cambria" pitchFamily="34" charset="-120"/>
              </a:rPr>
              <a:t>02</a:t>
            </a:r>
            <a:endParaRPr lang="en-US" sz="2600" dirty="0"/>
          </a:p>
        </p:txBody>
      </p:sp>
      <p:sp>
        <p:nvSpPr>
          <p:cNvPr id="8" name="Text 6"/>
          <p:cNvSpPr/>
          <p:nvPr/>
        </p:nvSpPr>
        <p:spPr>
          <a:xfrm>
            <a:off x="1234440" y="2880360"/>
            <a:ext cx="45720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PDF Text Extraction</a:t>
            </a:r>
            <a:endParaRPr lang="en-US" sz="1500" dirty="0"/>
          </a:p>
        </p:txBody>
      </p:sp>
      <p:sp>
        <p:nvSpPr>
          <p:cNvPr id="9" name="Text 7"/>
          <p:cNvSpPr/>
          <p:nvPr/>
        </p:nvSpPr>
        <p:spPr>
          <a:xfrm>
            <a:off x="1234440" y="3227832"/>
            <a:ext cx="4572000" cy="640080"/>
          </a:xfrm>
          <a:prstGeom prst="rect">
            <a:avLst/>
          </a:prstGeom>
          <a:noFill/>
          <a:ln/>
        </p:spPr>
        <p:txBody>
          <a:bodyPr wrap="square" lIns="0" tIns="0" rIns="0" bIns="0" rtlCol="0" anchor="ctr"/>
          <a:lstStyle/>
          <a:p>
            <a:pPr marL="0" indent="0">
              <a:lnSpc>
                <a:spcPct val="120000"/>
              </a:lnSpc>
              <a:buNone/>
            </a:pPr>
            <a:r>
              <a:rPr lang="en-US" sz="1150" dirty="0">
                <a:solidFill>
                  <a:srgbClr val="94A3B8"/>
                </a:solidFill>
                <a:latin typeface="Calibri" pitchFamily="34" charset="0"/>
                <a:ea typeface="Calibri" pitchFamily="34" charset="-122"/>
                <a:cs typeface="Calibri" pitchFamily="34" charset="-120"/>
              </a:rPr>
              <a:t>pdfplumber pulls raw text from the attached invoice, page by page.</a:t>
            </a:r>
            <a:endParaRPr lang="en-US" sz="1150" dirty="0"/>
          </a:p>
        </p:txBody>
      </p:sp>
      <p:sp>
        <p:nvSpPr>
          <p:cNvPr id="10" name="Text 8"/>
          <p:cNvSpPr/>
          <p:nvPr/>
        </p:nvSpPr>
        <p:spPr>
          <a:xfrm>
            <a:off x="548640" y="4069080"/>
            <a:ext cx="685800" cy="1051560"/>
          </a:xfrm>
          <a:prstGeom prst="rect">
            <a:avLst/>
          </a:prstGeom>
          <a:noFill/>
          <a:ln/>
        </p:spPr>
        <p:txBody>
          <a:bodyPr wrap="square" lIns="0" tIns="0" rIns="0" bIns="0" rtlCol="0" anchor="t"/>
          <a:lstStyle/>
          <a:p>
            <a:pPr marL="0" indent="0">
              <a:buNone/>
            </a:pPr>
            <a:r>
              <a:rPr lang="en-US" sz="2600" b="1" dirty="0">
                <a:solidFill>
                  <a:srgbClr val="1A2133"/>
                </a:solidFill>
                <a:latin typeface="Cambria" pitchFamily="34" charset="0"/>
                <a:ea typeface="Cambria" pitchFamily="34" charset="-122"/>
                <a:cs typeface="Cambria" pitchFamily="34" charset="-120"/>
              </a:rPr>
              <a:t>03</a:t>
            </a:r>
            <a:endParaRPr lang="en-US" sz="2600" dirty="0"/>
          </a:p>
        </p:txBody>
      </p:sp>
      <p:sp>
        <p:nvSpPr>
          <p:cNvPr id="11" name="Text 9"/>
          <p:cNvSpPr/>
          <p:nvPr/>
        </p:nvSpPr>
        <p:spPr>
          <a:xfrm>
            <a:off x="1234440" y="4069080"/>
            <a:ext cx="45720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LLM Data Extraction</a:t>
            </a:r>
            <a:endParaRPr lang="en-US" sz="1500" dirty="0"/>
          </a:p>
        </p:txBody>
      </p:sp>
      <p:sp>
        <p:nvSpPr>
          <p:cNvPr id="12" name="Text 10"/>
          <p:cNvSpPr/>
          <p:nvPr/>
        </p:nvSpPr>
        <p:spPr>
          <a:xfrm>
            <a:off x="1234440" y="4416552"/>
            <a:ext cx="4572000" cy="640080"/>
          </a:xfrm>
          <a:prstGeom prst="rect">
            <a:avLst/>
          </a:prstGeom>
          <a:noFill/>
          <a:ln/>
        </p:spPr>
        <p:txBody>
          <a:bodyPr wrap="square" lIns="0" tIns="0" rIns="0" bIns="0" rtlCol="0" anchor="ctr"/>
          <a:lstStyle/>
          <a:p>
            <a:pPr marL="0" indent="0">
              <a:lnSpc>
                <a:spcPct val="120000"/>
              </a:lnSpc>
              <a:buNone/>
            </a:pPr>
            <a:r>
              <a:rPr lang="en-US" sz="1150" dirty="0">
                <a:solidFill>
                  <a:srgbClr val="94A3B8"/>
                </a:solidFill>
                <a:latin typeface="Calibri" pitchFamily="34" charset="0"/>
                <a:ea typeface="Calibri" pitchFamily="34" charset="-122"/>
                <a:cs typeface="Calibri" pitchFamily="34" charset="-120"/>
              </a:rPr>
              <a:t>Groq (Llama 3.3) returns structured JSON validated against strict Pydantic schemas.</a:t>
            </a:r>
            <a:endParaRPr lang="en-US" sz="1150" dirty="0"/>
          </a:p>
        </p:txBody>
      </p:sp>
      <p:sp>
        <p:nvSpPr>
          <p:cNvPr id="13" name="Text 11"/>
          <p:cNvSpPr/>
          <p:nvPr/>
        </p:nvSpPr>
        <p:spPr>
          <a:xfrm>
            <a:off x="548640" y="5257800"/>
            <a:ext cx="685800" cy="1051560"/>
          </a:xfrm>
          <a:prstGeom prst="rect">
            <a:avLst/>
          </a:prstGeom>
          <a:noFill/>
          <a:ln/>
        </p:spPr>
        <p:txBody>
          <a:bodyPr wrap="square" lIns="0" tIns="0" rIns="0" bIns="0" rtlCol="0" anchor="t"/>
          <a:lstStyle/>
          <a:p>
            <a:pPr marL="0" indent="0">
              <a:buNone/>
            </a:pPr>
            <a:r>
              <a:rPr lang="en-US" sz="2600" b="1" dirty="0">
                <a:solidFill>
                  <a:srgbClr val="1A2133"/>
                </a:solidFill>
                <a:latin typeface="Cambria" pitchFamily="34" charset="0"/>
                <a:ea typeface="Cambria" pitchFamily="34" charset="-122"/>
                <a:cs typeface="Cambria" pitchFamily="34" charset="-120"/>
              </a:rPr>
              <a:t>04</a:t>
            </a:r>
            <a:endParaRPr lang="en-US" sz="2600" dirty="0"/>
          </a:p>
        </p:txBody>
      </p:sp>
      <p:sp>
        <p:nvSpPr>
          <p:cNvPr id="14" name="Text 12"/>
          <p:cNvSpPr/>
          <p:nvPr/>
        </p:nvSpPr>
        <p:spPr>
          <a:xfrm>
            <a:off x="1234440" y="5257800"/>
            <a:ext cx="45720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PO Retrieval</a:t>
            </a:r>
            <a:endParaRPr lang="en-US" sz="1500" dirty="0"/>
          </a:p>
        </p:txBody>
      </p:sp>
      <p:sp>
        <p:nvSpPr>
          <p:cNvPr id="15" name="Text 13"/>
          <p:cNvSpPr/>
          <p:nvPr/>
        </p:nvSpPr>
        <p:spPr>
          <a:xfrm>
            <a:off x="1234440" y="5605272"/>
            <a:ext cx="4572000" cy="640080"/>
          </a:xfrm>
          <a:prstGeom prst="rect">
            <a:avLst/>
          </a:prstGeom>
          <a:noFill/>
          <a:ln/>
        </p:spPr>
        <p:txBody>
          <a:bodyPr wrap="square" lIns="0" tIns="0" rIns="0" bIns="0" rtlCol="0" anchor="ctr"/>
          <a:lstStyle/>
          <a:p>
            <a:pPr marL="0" indent="0">
              <a:lnSpc>
                <a:spcPct val="120000"/>
              </a:lnSpc>
              <a:buNone/>
            </a:pPr>
            <a:r>
              <a:rPr lang="en-US" sz="1150" dirty="0">
                <a:solidFill>
                  <a:srgbClr val="94A3B8"/>
                </a:solidFill>
                <a:latin typeface="Calibri" pitchFamily="34" charset="0"/>
                <a:ea typeface="Calibri" pitchFamily="34" charset="-122"/>
                <a:cs typeface="Calibri" pitchFamily="34" charset="-120"/>
              </a:rPr>
              <a:t>The matching Purchase Order is looked up by PO number in the database.</a:t>
            </a:r>
            <a:endParaRPr lang="en-US" sz="1150" dirty="0"/>
          </a:p>
        </p:txBody>
      </p:sp>
      <p:sp>
        <p:nvSpPr>
          <p:cNvPr id="16" name="Text 14"/>
          <p:cNvSpPr/>
          <p:nvPr/>
        </p:nvSpPr>
        <p:spPr>
          <a:xfrm>
            <a:off x="6355080" y="1691640"/>
            <a:ext cx="685800" cy="1051560"/>
          </a:xfrm>
          <a:prstGeom prst="rect">
            <a:avLst/>
          </a:prstGeom>
          <a:noFill/>
          <a:ln/>
        </p:spPr>
        <p:txBody>
          <a:bodyPr wrap="square" lIns="0" tIns="0" rIns="0" bIns="0" rtlCol="0" anchor="t"/>
          <a:lstStyle/>
          <a:p>
            <a:pPr marL="0" indent="0">
              <a:buNone/>
            </a:pPr>
            <a:r>
              <a:rPr lang="en-US" sz="2600" b="1" dirty="0">
                <a:solidFill>
                  <a:srgbClr val="1A2133"/>
                </a:solidFill>
                <a:latin typeface="Cambria" pitchFamily="34" charset="0"/>
                <a:ea typeface="Cambria" pitchFamily="34" charset="-122"/>
                <a:cs typeface="Cambria" pitchFamily="34" charset="-120"/>
              </a:rPr>
              <a:t>05</a:t>
            </a:r>
            <a:endParaRPr lang="en-US" sz="2600" dirty="0"/>
          </a:p>
        </p:txBody>
      </p:sp>
      <p:sp>
        <p:nvSpPr>
          <p:cNvPr id="17" name="Text 15"/>
          <p:cNvSpPr/>
          <p:nvPr/>
        </p:nvSpPr>
        <p:spPr>
          <a:xfrm>
            <a:off x="7040880" y="1691640"/>
            <a:ext cx="45720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Field-by-Field Matching</a:t>
            </a:r>
            <a:endParaRPr lang="en-US" sz="1500" dirty="0"/>
          </a:p>
        </p:txBody>
      </p:sp>
      <p:sp>
        <p:nvSpPr>
          <p:cNvPr id="18" name="Text 16"/>
          <p:cNvSpPr/>
          <p:nvPr/>
        </p:nvSpPr>
        <p:spPr>
          <a:xfrm>
            <a:off x="7040880" y="2039112"/>
            <a:ext cx="4572000" cy="640080"/>
          </a:xfrm>
          <a:prstGeom prst="rect">
            <a:avLst/>
          </a:prstGeom>
          <a:noFill/>
          <a:ln/>
        </p:spPr>
        <p:txBody>
          <a:bodyPr wrap="square" lIns="0" tIns="0" rIns="0" bIns="0" rtlCol="0" anchor="ctr"/>
          <a:lstStyle/>
          <a:p>
            <a:pPr marL="0" indent="0">
              <a:lnSpc>
                <a:spcPct val="120000"/>
              </a:lnSpc>
              <a:buNone/>
            </a:pPr>
            <a:r>
              <a:rPr lang="en-US" sz="1150" dirty="0">
                <a:solidFill>
                  <a:srgbClr val="94A3B8"/>
                </a:solidFill>
                <a:latin typeface="Calibri" pitchFamily="34" charset="0"/>
                <a:ea typeface="Calibri" pitchFamily="34" charset="-122"/>
                <a:cs typeface="Calibri" pitchFamily="34" charset="-120"/>
              </a:rPr>
              <a:t>Vendor, currency, quantities, prices, and totals are compared with configurable tolerance.</a:t>
            </a:r>
            <a:endParaRPr lang="en-US" sz="1150" dirty="0"/>
          </a:p>
        </p:txBody>
      </p:sp>
      <p:sp>
        <p:nvSpPr>
          <p:cNvPr id="19" name="Text 17"/>
          <p:cNvSpPr/>
          <p:nvPr/>
        </p:nvSpPr>
        <p:spPr>
          <a:xfrm>
            <a:off x="6355080" y="2880360"/>
            <a:ext cx="685800" cy="1051560"/>
          </a:xfrm>
          <a:prstGeom prst="rect">
            <a:avLst/>
          </a:prstGeom>
          <a:noFill/>
          <a:ln/>
        </p:spPr>
        <p:txBody>
          <a:bodyPr wrap="square" lIns="0" tIns="0" rIns="0" bIns="0" rtlCol="0" anchor="t"/>
          <a:lstStyle/>
          <a:p>
            <a:pPr marL="0" indent="0">
              <a:buNone/>
            </a:pPr>
            <a:r>
              <a:rPr lang="en-US" sz="2600" b="1" dirty="0">
                <a:solidFill>
                  <a:srgbClr val="1A2133"/>
                </a:solidFill>
                <a:latin typeface="Cambria" pitchFamily="34" charset="0"/>
                <a:ea typeface="Cambria" pitchFamily="34" charset="-122"/>
                <a:cs typeface="Cambria" pitchFamily="34" charset="-120"/>
              </a:rPr>
              <a:t>06</a:t>
            </a:r>
            <a:endParaRPr lang="en-US" sz="2600" dirty="0"/>
          </a:p>
        </p:txBody>
      </p:sp>
      <p:sp>
        <p:nvSpPr>
          <p:cNvPr id="20" name="Text 18"/>
          <p:cNvSpPr/>
          <p:nvPr/>
        </p:nvSpPr>
        <p:spPr>
          <a:xfrm>
            <a:off x="7040880" y="2880360"/>
            <a:ext cx="45720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Discrepancy Detection</a:t>
            </a:r>
            <a:endParaRPr lang="en-US" sz="1500" dirty="0"/>
          </a:p>
        </p:txBody>
      </p:sp>
      <p:sp>
        <p:nvSpPr>
          <p:cNvPr id="21" name="Text 19"/>
          <p:cNvSpPr/>
          <p:nvPr/>
        </p:nvSpPr>
        <p:spPr>
          <a:xfrm>
            <a:off x="7040880" y="3227832"/>
            <a:ext cx="4572000" cy="640080"/>
          </a:xfrm>
          <a:prstGeom prst="rect">
            <a:avLst/>
          </a:prstGeom>
          <a:noFill/>
          <a:ln/>
        </p:spPr>
        <p:txBody>
          <a:bodyPr wrap="square" lIns="0" tIns="0" rIns="0" bIns="0" rtlCol="0" anchor="ctr"/>
          <a:lstStyle/>
          <a:p>
            <a:pPr marL="0" indent="0">
              <a:lnSpc>
                <a:spcPct val="120000"/>
              </a:lnSpc>
              <a:buNone/>
            </a:pPr>
            <a:r>
              <a:rPr lang="en-US" sz="1150" dirty="0">
                <a:solidFill>
                  <a:srgbClr val="94A3B8"/>
                </a:solidFill>
                <a:latin typeface="Calibri" pitchFamily="34" charset="0"/>
                <a:ea typeface="Calibri" pitchFamily="34" charset="-122"/>
                <a:cs typeface="Calibri" pitchFamily="34" charset="-120"/>
              </a:rPr>
              <a:t>Eight distinct mismatch types are identified and classified by severity.</a:t>
            </a:r>
            <a:endParaRPr lang="en-US" sz="1150" dirty="0"/>
          </a:p>
        </p:txBody>
      </p:sp>
      <p:sp>
        <p:nvSpPr>
          <p:cNvPr id="22" name="Text 20"/>
          <p:cNvSpPr/>
          <p:nvPr/>
        </p:nvSpPr>
        <p:spPr>
          <a:xfrm>
            <a:off x="6355080" y="4069080"/>
            <a:ext cx="685800" cy="1051560"/>
          </a:xfrm>
          <a:prstGeom prst="rect">
            <a:avLst/>
          </a:prstGeom>
          <a:noFill/>
          <a:ln/>
        </p:spPr>
        <p:txBody>
          <a:bodyPr wrap="square" lIns="0" tIns="0" rIns="0" bIns="0" rtlCol="0" anchor="t"/>
          <a:lstStyle/>
          <a:p>
            <a:pPr marL="0" indent="0">
              <a:buNone/>
            </a:pPr>
            <a:r>
              <a:rPr lang="en-US" sz="2600" b="1" dirty="0">
                <a:solidFill>
                  <a:srgbClr val="1A2133"/>
                </a:solidFill>
                <a:latin typeface="Cambria" pitchFamily="34" charset="0"/>
                <a:ea typeface="Cambria" pitchFamily="34" charset="-122"/>
                <a:cs typeface="Cambria" pitchFamily="34" charset="-120"/>
              </a:rPr>
              <a:t>07</a:t>
            </a:r>
            <a:endParaRPr lang="en-US" sz="2600" dirty="0"/>
          </a:p>
        </p:txBody>
      </p:sp>
      <p:sp>
        <p:nvSpPr>
          <p:cNvPr id="23" name="Text 21"/>
          <p:cNvSpPr/>
          <p:nvPr/>
        </p:nvSpPr>
        <p:spPr>
          <a:xfrm>
            <a:off x="7040880" y="4069080"/>
            <a:ext cx="45720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Validation Routing</a:t>
            </a:r>
            <a:endParaRPr lang="en-US" sz="1500" dirty="0"/>
          </a:p>
        </p:txBody>
      </p:sp>
      <p:sp>
        <p:nvSpPr>
          <p:cNvPr id="24" name="Text 22"/>
          <p:cNvSpPr/>
          <p:nvPr/>
        </p:nvSpPr>
        <p:spPr>
          <a:xfrm>
            <a:off x="7040880" y="4416552"/>
            <a:ext cx="4572000" cy="640080"/>
          </a:xfrm>
          <a:prstGeom prst="rect">
            <a:avLst/>
          </a:prstGeom>
          <a:noFill/>
          <a:ln/>
        </p:spPr>
        <p:txBody>
          <a:bodyPr wrap="square" lIns="0" tIns="0" rIns="0" bIns="0" rtlCol="0" anchor="ctr"/>
          <a:lstStyle/>
          <a:p>
            <a:pPr marL="0" indent="0">
              <a:lnSpc>
                <a:spcPct val="120000"/>
              </a:lnSpc>
              <a:buNone/>
            </a:pPr>
            <a:r>
              <a:rPr lang="en-US" sz="1150" dirty="0">
                <a:solidFill>
                  <a:srgbClr val="94A3B8"/>
                </a:solidFill>
                <a:latin typeface="Calibri" pitchFamily="34" charset="0"/>
                <a:ea typeface="Calibri" pitchFamily="34" charset="-122"/>
                <a:cs typeface="Calibri" pitchFamily="34" charset="-120"/>
              </a:rPr>
              <a:t>Business rules decide: Ready for Payment, Procurement Review, or Rejected.</a:t>
            </a:r>
            <a:endParaRPr lang="en-US" sz="1150" dirty="0"/>
          </a:p>
        </p:txBody>
      </p:sp>
      <p:sp>
        <p:nvSpPr>
          <p:cNvPr id="25" name="Text 23"/>
          <p:cNvSpPr/>
          <p:nvPr/>
        </p:nvSpPr>
        <p:spPr>
          <a:xfrm>
            <a:off x="6355080" y="5257800"/>
            <a:ext cx="685800" cy="1051560"/>
          </a:xfrm>
          <a:prstGeom prst="rect">
            <a:avLst/>
          </a:prstGeom>
          <a:noFill/>
          <a:ln/>
        </p:spPr>
        <p:txBody>
          <a:bodyPr wrap="square" lIns="0" tIns="0" rIns="0" bIns="0" rtlCol="0" anchor="t"/>
          <a:lstStyle/>
          <a:p>
            <a:pPr marL="0" indent="0">
              <a:buNone/>
            </a:pPr>
            <a:r>
              <a:rPr lang="en-US" sz="2600" b="1" dirty="0">
                <a:solidFill>
                  <a:srgbClr val="1A2133"/>
                </a:solidFill>
                <a:latin typeface="Cambria" pitchFamily="34" charset="0"/>
                <a:ea typeface="Cambria" pitchFamily="34" charset="-122"/>
                <a:cs typeface="Cambria" pitchFamily="34" charset="-120"/>
              </a:rPr>
              <a:t>08</a:t>
            </a:r>
            <a:endParaRPr lang="en-US" sz="2600" dirty="0"/>
          </a:p>
        </p:txBody>
      </p:sp>
      <p:sp>
        <p:nvSpPr>
          <p:cNvPr id="26" name="Text 24"/>
          <p:cNvSpPr/>
          <p:nvPr/>
        </p:nvSpPr>
        <p:spPr>
          <a:xfrm>
            <a:off x="7040880" y="5257800"/>
            <a:ext cx="45720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Secure Storage &amp; Audit</a:t>
            </a:r>
            <a:endParaRPr lang="en-US" sz="1500" dirty="0"/>
          </a:p>
        </p:txBody>
      </p:sp>
      <p:sp>
        <p:nvSpPr>
          <p:cNvPr id="27" name="Text 25"/>
          <p:cNvSpPr/>
          <p:nvPr/>
        </p:nvSpPr>
        <p:spPr>
          <a:xfrm>
            <a:off x="7040880" y="5605272"/>
            <a:ext cx="4572000" cy="640080"/>
          </a:xfrm>
          <a:prstGeom prst="rect">
            <a:avLst/>
          </a:prstGeom>
          <a:noFill/>
          <a:ln/>
        </p:spPr>
        <p:txBody>
          <a:bodyPr wrap="square" lIns="0" tIns="0" rIns="0" bIns="0" rtlCol="0" anchor="ctr"/>
          <a:lstStyle/>
          <a:p>
            <a:pPr marL="0" indent="0">
              <a:lnSpc>
                <a:spcPct val="120000"/>
              </a:lnSpc>
              <a:buNone/>
            </a:pPr>
            <a:r>
              <a:rPr lang="en-US" sz="1150" dirty="0">
                <a:solidFill>
                  <a:srgbClr val="94A3B8"/>
                </a:solidFill>
                <a:latin typeface="Calibri" pitchFamily="34" charset="0"/>
                <a:ea typeface="Calibri" pitchFamily="34" charset="-122"/>
                <a:cs typeface="Calibri" pitchFamily="34" charset="-120"/>
              </a:rPr>
              <a:t>Every decision is persisted with a full, timestamped audit trail.</a:t>
            </a:r>
            <a:endParaRPr lang="en-US" sz="1150" dirty="0"/>
          </a:p>
        </p:txBody>
      </p:sp>
      <p:sp>
        <p:nvSpPr>
          <p:cNvPr id="28" name="Shape 26"/>
          <p:cNvSpPr/>
          <p:nvPr/>
        </p:nvSpPr>
        <p:spPr>
          <a:xfrm>
            <a:off x="6108192" y="1691640"/>
            <a:ext cx="0" cy="4572000"/>
          </a:xfrm>
          <a:prstGeom prst="line">
            <a:avLst/>
          </a:prstGeom>
          <a:noFill/>
          <a:ln w="12700">
            <a:solidFill>
              <a:srgbClr val="1A2133"/>
            </a:solidFill>
            <a:prstDash val="solid"/>
          </a:ln>
        </p:spPr>
        <p:txBody>
          <a:bodyPr/>
          <a:lstStyle/>
          <a:p>
            <a:endParaRPr lang="en-IN"/>
          </a:p>
        </p:txBody>
      </p:sp>
      <p:sp>
        <p:nvSpPr>
          <p:cNvPr id="30" name="Text 27"/>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31" name="Text 2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E17"/>
        </a:solidFill>
        <a:effectLst/>
      </p:bgPr>
    </p:bg>
    <p:spTree>
      <p:nvGrpSpPr>
        <p:cNvPr id="1" name="">
          <a:extLst>
            <a:ext uri="{FF2B5EF4-FFF2-40B4-BE49-F238E27FC236}">
              <a16:creationId xmlns:a16="http://schemas.microsoft.com/office/drawing/2014/main" id="{22F75572-886A-6DB5-D318-8EF20E1DBE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08E2AFA-DAC2-F9F4-CAAC-B254AF4AA42B}"/>
              </a:ext>
            </a:extLst>
          </p:cNvPr>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a:solidFill>
                  <a:srgbClr val="00A896"/>
                </a:solidFill>
                <a:latin typeface="Calibri" pitchFamily="34" charset="0"/>
                <a:ea typeface="Calibri" pitchFamily="34" charset="-122"/>
                <a:cs typeface="Calibri" pitchFamily="34" charset="-120"/>
              </a:rPr>
              <a:t>DEEP DIVE</a:t>
            </a:r>
            <a:endParaRPr lang="en-US" sz="1300" dirty="0"/>
          </a:p>
        </p:txBody>
      </p:sp>
      <p:sp>
        <p:nvSpPr>
          <p:cNvPr id="3" name="Text 1">
            <a:extLst>
              <a:ext uri="{FF2B5EF4-FFF2-40B4-BE49-F238E27FC236}">
                <a16:creationId xmlns:a16="http://schemas.microsoft.com/office/drawing/2014/main" id="{22C07361-2830-543C-E8BC-4965752C9318}"/>
              </a:ext>
            </a:extLst>
          </p:cNvPr>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a:solidFill>
                  <a:srgbClr val="FFFFFF"/>
                </a:solidFill>
                <a:latin typeface="Cambria" pitchFamily="34" charset="0"/>
                <a:ea typeface="Cambria" pitchFamily="34" charset="-122"/>
                <a:cs typeface="Cambria" pitchFamily="34" charset="-120"/>
              </a:rPr>
              <a:t>The pipeline, stage by stage</a:t>
            </a:r>
            <a:endParaRPr lang="en-US" sz="3200" dirty="0"/>
          </a:p>
        </p:txBody>
      </p:sp>
      <p:pic>
        <p:nvPicPr>
          <p:cNvPr id="32" name="Picture 31">
            <a:extLst>
              <a:ext uri="{FF2B5EF4-FFF2-40B4-BE49-F238E27FC236}">
                <a16:creationId xmlns:a16="http://schemas.microsoft.com/office/drawing/2014/main" id="{7CFA993D-97C0-BC69-69E3-6BA836DE53D5}"/>
              </a:ext>
            </a:extLst>
          </p:cNvPr>
          <p:cNvPicPr>
            <a:picLocks noChangeAspect="1"/>
          </p:cNvPicPr>
          <p:nvPr/>
        </p:nvPicPr>
        <p:blipFill>
          <a:blip r:embed="rId3"/>
          <a:stretch>
            <a:fillRect/>
          </a:stretch>
        </p:blipFill>
        <p:spPr>
          <a:xfrm>
            <a:off x="-1920239" y="1651000"/>
            <a:ext cx="7609840" cy="5019372"/>
          </a:xfrm>
          <a:prstGeom prst="rect">
            <a:avLst/>
          </a:prstGeom>
        </p:spPr>
      </p:pic>
      <p:pic>
        <p:nvPicPr>
          <p:cNvPr id="34" name="Picture 33">
            <a:extLst>
              <a:ext uri="{FF2B5EF4-FFF2-40B4-BE49-F238E27FC236}">
                <a16:creationId xmlns:a16="http://schemas.microsoft.com/office/drawing/2014/main" id="{3A596ED3-D724-8646-D384-AB1629A2B01F}"/>
              </a:ext>
            </a:extLst>
          </p:cNvPr>
          <p:cNvPicPr>
            <a:picLocks noChangeAspect="1"/>
          </p:cNvPicPr>
          <p:nvPr/>
        </p:nvPicPr>
        <p:blipFill>
          <a:blip r:embed="rId4"/>
          <a:stretch>
            <a:fillRect/>
          </a:stretch>
        </p:blipFill>
        <p:spPr>
          <a:xfrm>
            <a:off x="5689600" y="967232"/>
            <a:ext cx="6703092" cy="5506720"/>
          </a:xfrm>
          <a:prstGeom prst="rect">
            <a:avLst/>
          </a:prstGeom>
        </p:spPr>
      </p:pic>
    </p:spTree>
    <p:extLst>
      <p:ext uri="{BB962C8B-B14F-4D97-AF65-F5344CB8AC3E}">
        <p14:creationId xmlns:p14="http://schemas.microsoft.com/office/powerpoint/2010/main" val="3853708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E17"/>
        </a:solidFill>
        <a:effectLst/>
      </p:bgPr>
    </p:bg>
    <p:spTree>
      <p:nvGrpSpPr>
        <p:cNvPr id="1" name="">
          <a:extLst>
            <a:ext uri="{FF2B5EF4-FFF2-40B4-BE49-F238E27FC236}">
              <a16:creationId xmlns:a16="http://schemas.microsoft.com/office/drawing/2014/main" id="{C89681A3-DE0F-07CE-7DE0-124BFCAFCF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2EDC08-74E7-F526-3AFE-5A82629030F9}"/>
              </a:ext>
            </a:extLst>
          </p:cNvPr>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AI STRATEGY</a:t>
            </a:r>
            <a:endParaRPr lang="en-US" sz="1300" dirty="0"/>
          </a:p>
        </p:txBody>
      </p:sp>
      <p:sp>
        <p:nvSpPr>
          <p:cNvPr id="3" name="Text 1">
            <a:extLst>
              <a:ext uri="{FF2B5EF4-FFF2-40B4-BE49-F238E27FC236}">
                <a16:creationId xmlns:a16="http://schemas.microsoft.com/office/drawing/2014/main" id="{7C64AC3B-31B1-0820-1EB1-BD13B57CC503}"/>
              </a:ext>
            </a:extLst>
          </p:cNvPr>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Prompt engineering built for reliability</a:t>
            </a:r>
            <a:endParaRPr lang="en-US" sz="3200" dirty="0"/>
          </a:p>
        </p:txBody>
      </p:sp>
      <p:sp>
        <p:nvSpPr>
          <p:cNvPr id="4" name="Shape 2">
            <a:extLst>
              <a:ext uri="{FF2B5EF4-FFF2-40B4-BE49-F238E27FC236}">
                <a16:creationId xmlns:a16="http://schemas.microsoft.com/office/drawing/2014/main" id="{FBD13896-9B90-E05E-49C9-7027A51C847F}"/>
              </a:ext>
            </a:extLst>
          </p:cNvPr>
          <p:cNvSpPr/>
          <p:nvPr/>
        </p:nvSpPr>
        <p:spPr>
          <a:xfrm>
            <a:off x="548640" y="1691640"/>
            <a:ext cx="5257800"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5" name="Shape 3">
            <a:extLst>
              <a:ext uri="{FF2B5EF4-FFF2-40B4-BE49-F238E27FC236}">
                <a16:creationId xmlns:a16="http://schemas.microsoft.com/office/drawing/2014/main" id="{A8A5762D-85F4-DAE7-2EAA-208A1CABF529}"/>
              </a:ext>
            </a:extLst>
          </p:cNvPr>
          <p:cNvSpPr/>
          <p:nvPr/>
        </p:nvSpPr>
        <p:spPr>
          <a:xfrm>
            <a:off x="731520" y="2020824"/>
            <a:ext cx="502920" cy="502920"/>
          </a:xfrm>
          <a:prstGeom prst="ellipse">
            <a:avLst/>
          </a:prstGeom>
          <a:solidFill>
            <a:srgbClr val="1A2133"/>
          </a:solidFill>
          <a:ln/>
        </p:spPr>
        <p:txBody>
          <a:bodyPr/>
          <a:lstStyle/>
          <a:p>
            <a:endParaRPr lang="en-IN"/>
          </a:p>
        </p:txBody>
      </p:sp>
      <p:pic>
        <p:nvPicPr>
          <p:cNvPr id="6" name="Image 0" descr="preencoded.png">
            <a:extLst>
              <a:ext uri="{FF2B5EF4-FFF2-40B4-BE49-F238E27FC236}">
                <a16:creationId xmlns:a16="http://schemas.microsoft.com/office/drawing/2014/main" id="{A9CAA3FA-2B50-9F9C-4E9C-B4AD56F4ED10}"/>
              </a:ext>
            </a:extLst>
          </p:cNvPr>
          <p:cNvPicPr>
            <a:picLocks noChangeAspect="1"/>
          </p:cNvPicPr>
          <p:nvPr/>
        </p:nvPicPr>
        <p:blipFill>
          <a:blip r:embed="rId3"/>
          <a:stretch>
            <a:fillRect/>
          </a:stretch>
        </p:blipFill>
        <p:spPr>
          <a:xfrm>
            <a:off x="862279" y="2151583"/>
            <a:ext cx="241402" cy="241402"/>
          </a:xfrm>
          <a:prstGeom prst="rect">
            <a:avLst/>
          </a:prstGeom>
        </p:spPr>
      </p:pic>
      <p:sp>
        <p:nvSpPr>
          <p:cNvPr id="7" name="Text 4">
            <a:extLst>
              <a:ext uri="{FF2B5EF4-FFF2-40B4-BE49-F238E27FC236}">
                <a16:creationId xmlns:a16="http://schemas.microsoft.com/office/drawing/2014/main" id="{C750DE46-713F-6CBE-CABD-820A00A375D2}"/>
              </a:ext>
            </a:extLst>
          </p:cNvPr>
          <p:cNvSpPr/>
          <p:nvPr/>
        </p:nvSpPr>
        <p:spPr>
          <a:xfrm>
            <a:off x="1371600" y="1819656"/>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Strict JSON Schema</a:t>
            </a:r>
            <a:endParaRPr lang="en-US" sz="1400" dirty="0"/>
          </a:p>
        </p:txBody>
      </p:sp>
      <p:sp>
        <p:nvSpPr>
          <p:cNvPr id="8" name="Text 5">
            <a:extLst>
              <a:ext uri="{FF2B5EF4-FFF2-40B4-BE49-F238E27FC236}">
                <a16:creationId xmlns:a16="http://schemas.microsoft.com/office/drawing/2014/main" id="{6E29B4DB-A6E5-5DF6-DD58-411C8BD2098D}"/>
              </a:ext>
            </a:extLst>
          </p:cNvPr>
          <p:cNvSpPr/>
          <p:nvPr/>
        </p:nvSpPr>
        <p:spPr>
          <a:xfrm>
            <a:off x="1371600" y="2167128"/>
            <a:ext cx="4251960" cy="82296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Every required field is explicitly named; the model is instructed to return ONLY valid JSON, no markdown or commentary.</a:t>
            </a:r>
            <a:endParaRPr lang="en-US" sz="1050" dirty="0"/>
          </a:p>
        </p:txBody>
      </p:sp>
      <p:sp>
        <p:nvSpPr>
          <p:cNvPr id="9" name="Shape 6">
            <a:extLst>
              <a:ext uri="{FF2B5EF4-FFF2-40B4-BE49-F238E27FC236}">
                <a16:creationId xmlns:a16="http://schemas.microsoft.com/office/drawing/2014/main" id="{D2A224A4-F081-894F-CE70-1AC1678C4BA7}"/>
              </a:ext>
            </a:extLst>
          </p:cNvPr>
          <p:cNvSpPr/>
          <p:nvPr/>
        </p:nvSpPr>
        <p:spPr>
          <a:xfrm>
            <a:off x="6172200" y="1691640"/>
            <a:ext cx="5257800"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0" name="Shape 7">
            <a:extLst>
              <a:ext uri="{FF2B5EF4-FFF2-40B4-BE49-F238E27FC236}">
                <a16:creationId xmlns:a16="http://schemas.microsoft.com/office/drawing/2014/main" id="{B9A498AE-1440-03D6-DA39-8C92D75958FF}"/>
              </a:ext>
            </a:extLst>
          </p:cNvPr>
          <p:cNvSpPr/>
          <p:nvPr/>
        </p:nvSpPr>
        <p:spPr>
          <a:xfrm>
            <a:off x="6355080" y="2020824"/>
            <a:ext cx="502920" cy="502920"/>
          </a:xfrm>
          <a:prstGeom prst="ellipse">
            <a:avLst/>
          </a:prstGeom>
          <a:solidFill>
            <a:srgbClr val="1A2133"/>
          </a:solidFill>
          <a:ln/>
        </p:spPr>
        <p:txBody>
          <a:bodyPr/>
          <a:lstStyle/>
          <a:p>
            <a:endParaRPr lang="en-IN"/>
          </a:p>
        </p:txBody>
      </p:sp>
      <p:pic>
        <p:nvPicPr>
          <p:cNvPr id="11" name="Image 1" descr="preencoded.png">
            <a:extLst>
              <a:ext uri="{FF2B5EF4-FFF2-40B4-BE49-F238E27FC236}">
                <a16:creationId xmlns:a16="http://schemas.microsoft.com/office/drawing/2014/main" id="{5E9CB888-11C6-D4D0-7761-13A5BBF92608}"/>
              </a:ext>
            </a:extLst>
          </p:cNvPr>
          <p:cNvPicPr>
            <a:picLocks noChangeAspect="1"/>
          </p:cNvPicPr>
          <p:nvPr/>
        </p:nvPicPr>
        <p:blipFill>
          <a:blip r:embed="rId4"/>
          <a:stretch>
            <a:fillRect/>
          </a:stretch>
        </p:blipFill>
        <p:spPr>
          <a:xfrm>
            <a:off x="6485839" y="2151583"/>
            <a:ext cx="241402" cy="241402"/>
          </a:xfrm>
          <a:prstGeom prst="rect">
            <a:avLst/>
          </a:prstGeom>
        </p:spPr>
      </p:pic>
      <p:sp>
        <p:nvSpPr>
          <p:cNvPr id="12" name="Text 8">
            <a:extLst>
              <a:ext uri="{FF2B5EF4-FFF2-40B4-BE49-F238E27FC236}">
                <a16:creationId xmlns:a16="http://schemas.microsoft.com/office/drawing/2014/main" id="{9F7DF892-0F78-ECAA-E4CE-FAA8B57A3F28}"/>
              </a:ext>
            </a:extLst>
          </p:cNvPr>
          <p:cNvSpPr/>
          <p:nvPr/>
        </p:nvSpPr>
        <p:spPr>
          <a:xfrm>
            <a:off x="6995160" y="1819656"/>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Few-Shot Anchoring</a:t>
            </a:r>
            <a:endParaRPr lang="en-US" sz="1400" dirty="0"/>
          </a:p>
        </p:txBody>
      </p:sp>
      <p:sp>
        <p:nvSpPr>
          <p:cNvPr id="13" name="Text 9">
            <a:extLst>
              <a:ext uri="{FF2B5EF4-FFF2-40B4-BE49-F238E27FC236}">
                <a16:creationId xmlns:a16="http://schemas.microsoft.com/office/drawing/2014/main" id="{542199AB-96FC-D918-8265-956410480F3D}"/>
              </a:ext>
            </a:extLst>
          </p:cNvPr>
          <p:cNvSpPr/>
          <p:nvPr/>
        </p:nvSpPr>
        <p:spPr>
          <a:xfrm>
            <a:off x="6995160" y="2167128"/>
            <a:ext cx="4251960" cy="82296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A compact worked example anchors output formatting and reduces drift on messy invoice layouts.</a:t>
            </a:r>
            <a:endParaRPr lang="en-US" sz="1050" dirty="0"/>
          </a:p>
        </p:txBody>
      </p:sp>
      <p:sp>
        <p:nvSpPr>
          <p:cNvPr id="14" name="Shape 10">
            <a:extLst>
              <a:ext uri="{FF2B5EF4-FFF2-40B4-BE49-F238E27FC236}">
                <a16:creationId xmlns:a16="http://schemas.microsoft.com/office/drawing/2014/main" id="{6E50E6AE-DCD5-BF0D-4D0F-79D711519B6B}"/>
              </a:ext>
            </a:extLst>
          </p:cNvPr>
          <p:cNvSpPr/>
          <p:nvPr/>
        </p:nvSpPr>
        <p:spPr>
          <a:xfrm>
            <a:off x="548640" y="3191256"/>
            <a:ext cx="5257800"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5" name="Shape 11">
            <a:extLst>
              <a:ext uri="{FF2B5EF4-FFF2-40B4-BE49-F238E27FC236}">
                <a16:creationId xmlns:a16="http://schemas.microsoft.com/office/drawing/2014/main" id="{9575FB3D-93C3-E699-FB5F-7DCC712AC701}"/>
              </a:ext>
            </a:extLst>
          </p:cNvPr>
          <p:cNvSpPr/>
          <p:nvPr/>
        </p:nvSpPr>
        <p:spPr>
          <a:xfrm>
            <a:off x="731520" y="3520440"/>
            <a:ext cx="502920" cy="502920"/>
          </a:xfrm>
          <a:prstGeom prst="ellipse">
            <a:avLst/>
          </a:prstGeom>
          <a:solidFill>
            <a:srgbClr val="1A2133"/>
          </a:solidFill>
          <a:ln/>
        </p:spPr>
        <p:txBody>
          <a:bodyPr/>
          <a:lstStyle/>
          <a:p>
            <a:endParaRPr lang="en-IN"/>
          </a:p>
        </p:txBody>
      </p:sp>
      <p:pic>
        <p:nvPicPr>
          <p:cNvPr id="16" name="Image 2" descr="preencoded.png">
            <a:extLst>
              <a:ext uri="{FF2B5EF4-FFF2-40B4-BE49-F238E27FC236}">
                <a16:creationId xmlns:a16="http://schemas.microsoft.com/office/drawing/2014/main" id="{ACDB1D87-C2DB-326A-DF72-55AB5B0A72EB}"/>
              </a:ext>
            </a:extLst>
          </p:cNvPr>
          <p:cNvPicPr>
            <a:picLocks noChangeAspect="1"/>
          </p:cNvPicPr>
          <p:nvPr/>
        </p:nvPicPr>
        <p:blipFill>
          <a:blip r:embed="rId5"/>
          <a:stretch>
            <a:fillRect/>
          </a:stretch>
        </p:blipFill>
        <p:spPr>
          <a:xfrm>
            <a:off x="862279" y="3651199"/>
            <a:ext cx="241402" cy="241402"/>
          </a:xfrm>
          <a:prstGeom prst="rect">
            <a:avLst/>
          </a:prstGeom>
        </p:spPr>
      </p:pic>
      <p:sp>
        <p:nvSpPr>
          <p:cNvPr id="17" name="Text 12">
            <a:extLst>
              <a:ext uri="{FF2B5EF4-FFF2-40B4-BE49-F238E27FC236}">
                <a16:creationId xmlns:a16="http://schemas.microsoft.com/office/drawing/2014/main" id="{A7287DE4-C8D8-BE66-2161-CF5D0C086FDB}"/>
              </a:ext>
            </a:extLst>
          </p:cNvPr>
          <p:cNvSpPr/>
          <p:nvPr/>
        </p:nvSpPr>
        <p:spPr>
          <a:xfrm>
            <a:off x="1371600" y="3319272"/>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Explicit Null Handling</a:t>
            </a:r>
            <a:endParaRPr lang="en-US" sz="1400" dirty="0"/>
          </a:p>
        </p:txBody>
      </p:sp>
      <p:sp>
        <p:nvSpPr>
          <p:cNvPr id="18" name="Text 13">
            <a:extLst>
              <a:ext uri="{FF2B5EF4-FFF2-40B4-BE49-F238E27FC236}">
                <a16:creationId xmlns:a16="http://schemas.microsoft.com/office/drawing/2014/main" id="{C0BAF95C-3BE2-A5D5-CC2D-1D1CA298F97B}"/>
              </a:ext>
            </a:extLst>
          </p:cNvPr>
          <p:cNvSpPr/>
          <p:nvPr/>
        </p:nvSpPr>
        <p:spPr>
          <a:xfrm>
            <a:off x="1371600" y="3666744"/>
            <a:ext cx="4251960" cy="82296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Missing fields become null with a note in extraction_warnings — the model is told never to guess.</a:t>
            </a:r>
            <a:endParaRPr lang="en-US" sz="1050" dirty="0"/>
          </a:p>
        </p:txBody>
      </p:sp>
      <p:sp>
        <p:nvSpPr>
          <p:cNvPr id="19" name="Shape 14">
            <a:extLst>
              <a:ext uri="{FF2B5EF4-FFF2-40B4-BE49-F238E27FC236}">
                <a16:creationId xmlns:a16="http://schemas.microsoft.com/office/drawing/2014/main" id="{4705527C-CF9B-16A5-3F39-FC7D5D39AA2F}"/>
              </a:ext>
            </a:extLst>
          </p:cNvPr>
          <p:cNvSpPr/>
          <p:nvPr/>
        </p:nvSpPr>
        <p:spPr>
          <a:xfrm>
            <a:off x="6172200" y="3191256"/>
            <a:ext cx="5257800"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20" name="Shape 15">
            <a:extLst>
              <a:ext uri="{FF2B5EF4-FFF2-40B4-BE49-F238E27FC236}">
                <a16:creationId xmlns:a16="http://schemas.microsoft.com/office/drawing/2014/main" id="{3B1657DB-5582-8933-F7D9-FC50C17BD5E8}"/>
              </a:ext>
            </a:extLst>
          </p:cNvPr>
          <p:cNvSpPr/>
          <p:nvPr/>
        </p:nvSpPr>
        <p:spPr>
          <a:xfrm>
            <a:off x="6355080" y="3520440"/>
            <a:ext cx="502920" cy="502920"/>
          </a:xfrm>
          <a:prstGeom prst="ellipse">
            <a:avLst/>
          </a:prstGeom>
          <a:solidFill>
            <a:srgbClr val="1A2133"/>
          </a:solidFill>
          <a:ln/>
        </p:spPr>
        <p:txBody>
          <a:bodyPr/>
          <a:lstStyle/>
          <a:p>
            <a:endParaRPr lang="en-IN"/>
          </a:p>
        </p:txBody>
      </p:sp>
      <p:pic>
        <p:nvPicPr>
          <p:cNvPr id="21" name="Image 3" descr="preencoded.png">
            <a:extLst>
              <a:ext uri="{FF2B5EF4-FFF2-40B4-BE49-F238E27FC236}">
                <a16:creationId xmlns:a16="http://schemas.microsoft.com/office/drawing/2014/main" id="{ED576C83-818F-9E6A-1C53-AF1B80CD710C}"/>
              </a:ext>
            </a:extLst>
          </p:cNvPr>
          <p:cNvPicPr>
            <a:picLocks noChangeAspect="1"/>
          </p:cNvPicPr>
          <p:nvPr/>
        </p:nvPicPr>
        <p:blipFill>
          <a:blip r:embed="rId6"/>
          <a:stretch>
            <a:fillRect/>
          </a:stretch>
        </p:blipFill>
        <p:spPr>
          <a:xfrm>
            <a:off x="6485839" y="3651199"/>
            <a:ext cx="241402" cy="241402"/>
          </a:xfrm>
          <a:prstGeom prst="rect">
            <a:avLst/>
          </a:prstGeom>
        </p:spPr>
      </p:pic>
      <p:sp>
        <p:nvSpPr>
          <p:cNvPr id="22" name="Text 16">
            <a:extLst>
              <a:ext uri="{FF2B5EF4-FFF2-40B4-BE49-F238E27FC236}">
                <a16:creationId xmlns:a16="http://schemas.microsoft.com/office/drawing/2014/main" id="{E87C3C15-9795-0988-4097-B91111AA3EC6}"/>
              </a:ext>
            </a:extLst>
          </p:cNvPr>
          <p:cNvSpPr/>
          <p:nvPr/>
        </p:nvSpPr>
        <p:spPr>
          <a:xfrm>
            <a:off x="6995160" y="3319272"/>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Self-Reported Confidence</a:t>
            </a:r>
            <a:endParaRPr lang="en-US" sz="1400" dirty="0"/>
          </a:p>
        </p:txBody>
      </p:sp>
      <p:sp>
        <p:nvSpPr>
          <p:cNvPr id="23" name="Text 17">
            <a:extLst>
              <a:ext uri="{FF2B5EF4-FFF2-40B4-BE49-F238E27FC236}">
                <a16:creationId xmlns:a16="http://schemas.microsoft.com/office/drawing/2014/main" id="{8D24C56B-9D12-0C9C-0BD3-3048E6DA0C1D}"/>
              </a:ext>
            </a:extLst>
          </p:cNvPr>
          <p:cNvSpPr/>
          <p:nvPr/>
        </p:nvSpPr>
        <p:spPr>
          <a:xfrm>
            <a:off x="6995160" y="3666744"/>
            <a:ext cx="4251960" cy="82296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A 0.0–1.0 confidence_score reflects extraction certainty, driving downstream review routing.</a:t>
            </a:r>
            <a:endParaRPr lang="en-US" sz="1050" dirty="0"/>
          </a:p>
        </p:txBody>
      </p:sp>
      <p:sp>
        <p:nvSpPr>
          <p:cNvPr id="24" name="Shape 18">
            <a:extLst>
              <a:ext uri="{FF2B5EF4-FFF2-40B4-BE49-F238E27FC236}">
                <a16:creationId xmlns:a16="http://schemas.microsoft.com/office/drawing/2014/main" id="{B71611CB-0334-95E5-156C-5A60CD4806ED}"/>
              </a:ext>
            </a:extLst>
          </p:cNvPr>
          <p:cNvSpPr/>
          <p:nvPr/>
        </p:nvSpPr>
        <p:spPr>
          <a:xfrm>
            <a:off x="548640" y="4690872"/>
            <a:ext cx="5257800"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25" name="Shape 19">
            <a:extLst>
              <a:ext uri="{FF2B5EF4-FFF2-40B4-BE49-F238E27FC236}">
                <a16:creationId xmlns:a16="http://schemas.microsoft.com/office/drawing/2014/main" id="{F7A80B6D-8B2E-2986-2410-6646AD91781A}"/>
              </a:ext>
            </a:extLst>
          </p:cNvPr>
          <p:cNvSpPr/>
          <p:nvPr/>
        </p:nvSpPr>
        <p:spPr>
          <a:xfrm>
            <a:off x="731520" y="5020056"/>
            <a:ext cx="502920" cy="502920"/>
          </a:xfrm>
          <a:prstGeom prst="ellipse">
            <a:avLst/>
          </a:prstGeom>
          <a:solidFill>
            <a:srgbClr val="1A2133"/>
          </a:solidFill>
          <a:ln/>
        </p:spPr>
        <p:txBody>
          <a:bodyPr/>
          <a:lstStyle/>
          <a:p>
            <a:endParaRPr lang="en-IN"/>
          </a:p>
        </p:txBody>
      </p:sp>
      <p:pic>
        <p:nvPicPr>
          <p:cNvPr id="26" name="Image 4" descr="preencoded.png">
            <a:extLst>
              <a:ext uri="{FF2B5EF4-FFF2-40B4-BE49-F238E27FC236}">
                <a16:creationId xmlns:a16="http://schemas.microsoft.com/office/drawing/2014/main" id="{EA2EDB34-35BC-5FB4-5DC6-21E881191C7F}"/>
              </a:ext>
            </a:extLst>
          </p:cNvPr>
          <p:cNvPicPr>
            <a:picLocks noChangeAspect="1"/>
          </p:cNvPicPr>
          <p:nvPr/>
        </p:nvPicPr>
        <p:blipFill>
          <a:blip r:embed="rId7"/>
          <a:stretch>
            <a:fillRect/>
          </a:stretch>
        </p:blipFill>
        <p:spPr>
          <a:xfrm>
            <a:off x="862279" y="5150815"/>
            <a:ext cx="241402" cy="241402"/>
          </a:xfrm>
          <a:prstGeom prst="rect">
            <a:avLst/>
          </a:prstGeom>
        </p:spPr>
      </p:pic>
      <p:sp>
        <p:nvSpPr>
          <p:cNvPr id="27" name="Text 20">
            <a:extLst>
              <a:ext uri="{FF2B5EF4-FFF2-40B4-BE49-F238E27FC236}">
                <a16:creationId xmlns:a16="http://schemas.microsoft.com/office/drawing/2014/main" id="{1696C82B-47F8-E4C2-C3FA-DFD70D07B521}"/>
              </a:ext>
            </a:extLst>
          </p:cNvPr>
          <p:cNvSpPr/>
          <p:nvPr/>
        </p:nvSpPr>
        <p:spPr>
          <a:xfrm>
            <a:off x="1371600" y="4818888"/>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Low Temperature (0.1)</a:t>
            </a:r>
            <a:endParaRPr lang="en-US" sz="1400" dirty="0"/>
          </a:p>
        </p:txBody>
      </p:sp>
      <p:sp>
        <p:nvSpPr>
          <p:cNvPr id="28" name="Text 21">
            <a:extLst>
              <a:ext uri="{FF2B5EF4-FFF2-40B4-BE49-F238E27FC236}">
                <a16:creationId xmlns:a16="http://schemas.microsoft.com/office/drawing/2014/main" id="{A9E1FA10-0111-9B9F-CE7E-4B84A0F9614E}"/>
              </a:ext>
            </a:extLst>
          </p:cNvPr>
          <p:cNvSpPr/>
          <p:nvPr/>
        </p:nvSpPr>
        <p:spPr>
          <a:xfrm>
            <a:off x="1371600" y="5166360"/>
            <a:ext cx="4251960" cy="82296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Minimizes variance run-to-run — critical for a deterministic business pipeline.</a:t>
            </a:r>
            <a:endParaRPr lang="en-US" sz="1050" dirty="0"/>
          </a:p>
        </p:txBody>
      </p:sp>
      <p:sp>
        <p:nvSpPr>
          <p:cNvPr id="29" name="Shape 22">
            <a:extLst>
              <a:ext uri="{FF2B5EF4-FFF2-40B4-BE49-F238E27FC236}">
                <a16:creationId xmlns:a16="http://schemas.microsoft.com/office/drawing/2014/main" id="{850A461C-7C16-474F-41FD-279BF0BCDC82}"/>
              </a:ext>
            </a:extLst>
          </p:cNvPr>
          <p:cNvSpPr/>
          <p:nvPr/>
        </p:nvSpPr>
        <p:spPr>
          <a:xfrm>
            <a:off x="6172200" y="4690872"/>
            <a:ext cx="5257800"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30" name="Shape 23">
            <a:extLst>
              <a:ext uri="{FF2B5EF4-FFF2-40B4-BE49-F238E27FC236}">
                <a16:creationId xmlns:a16="http://schemas.microsoft.com/office/drawing/2014/main" id="{2C79E86C-7AA3-9AAA-287F-22464269227F}"/>
              </a:ext>
            </a:extLst>
          </p:cNvPr>
          <p:cNvSpPr/>
          <p:nvPr/>
        </p:nvSpPr>
        <p:spPr>
          <a:xfrm>
            <a:off x="6355080" y="5020056"/>
            <a:ext cx="502920" cy="502920"/>
          </a:xfrm>
          <a:prstGeom prst="ellipse">
            <a:avLst/>
          </a:prstGeom>
          <a:solidFill>
            <a:srgbClr val="1A2133"/>
          </a:solidFill>
          <a:ln/>
        </p:spPr>
        <p:txBody>
          <a:bodyPr/>
          <a:lstStyle/>
          <a:p>
            <a:endParaRPr lang="en-IN"/>
          </a:p>
        </p:txBody>
      </p:sp>
      <p:pic>
        <p:nvPicPr>
          <p:cNvPr id="31" name="Image 5" descr="preencoded.png">
            <a:extLst>
              <a:ext uri="{FF2B5EF4-FFF2-40B4-BE49-F238E27FC236}">
                <a16:creationId xmlns:a16="http://schemas.microsoft.com/office/drawing/2014/main" id="{0FAE25E7-A018-ED85-4A25-6D6C387CC2C1}"/>
              </a:ext>
            </a:extLst>
          </p:cNvPr>
          <p:cNvPicPr>
            <a:picLocks noChangeAspect="1"/>
          </p:cNvPicPr>
          <p:nvPr/>
        </p:nvPicPr>
        <p:blipFill>
          <a:blip r:embed="rId8"/>
          <a:stretch>
            <a:fillRect/>
          </a:stretch>
        </p:blipFill>
        <p:spPr>
          <a:xfrm>
            <a:off x="6485839" y="5150815"/>
            <a:ext cx="241402" cy="241402"/>
          </a:xfrm>
          <a:prstGeom prst="rect">
            <a:avLst/>
          </a:prstGeom>
        </p:spPr>
      </p:pic>
      <p:sp>
        <p:nvSpPr>
          <p:cNvPr id="32" name="Text 24">
            <a:extLst>
              <a:ext uri="{FF2B5EF4-FFF2-40B4-BE49-F238E27FC236}">
                <a16:creationId xmlns:a16="http://schemas.microsoft.com/office/drawing/2014/main" id="{F21DC0E2-CD5E-E769-2910-62E3DE57A128}"/>
              </a:ext>
            </a:extLst>
          </p:cNvPr>
          <p:cNvSpPr/>
          <p:nvPr/>
        </p:nvSpPr>
        <p:spPr>
          <a:xfrm>
            <a:off x="6995160" y="4818888"/>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Retry on Malformed Output</a:t>
            </a:r>
            <a:endParaRPr lang="en-US" sz="1400" dirty="0"/>
          </a:p>
        </p:txBody>
      </p:sp>
      <p:sp>
        <p:nvSpPr>
          <p:cNvPr id="33" name="Text 25">
            <a:extLst>
              <a:ext uri="{FF2B5EF4-FFF2-40B4-BE49-F238E27FC236}">
                <a16:creationId xmlns:a16="http://schemas.microsoft.com/office/drawing/2014/main" id="{A2EA1B04-C18B-936F-351F-A030538023AC}"/>
              </a:ext>
            </a:extLst>
          </p:cNvPr>
          <p:cNvSpPr/>
          <p:nvPr/>
        </p:nvSpPr>
        <p:spPr>
          <a:xfrm>
            <a:off x="6995160" y="5166360"/>
            <a:ext cx="4251960" cy="82296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A corrective follow-up prompt re-requests valid JSON before falling back to manual review.</a:t>
            </a:r>
            <a:endParaRPr lang="en-US" sz="1050" dirty="0"/>
          </a:p>
        </p:txBody>
      </p:sp>
      <p:sp>
        <p:nvSpPr>
          <p:cNvPr id="35" name="Text 26">
            <a:extLst>
              <a:ext uri="{FF2B5EF4-FFF2-40B4-BE49-F238E27FC236}">
                <a16:creationId xmlns:a16="http://schemas.microsoft.com/office/drawing/2014/main" id="{2966DE9C-035B-8960-AF18-2D5DFF9F0A18}"/>
              </a:ext>
            </a:extLst>
          </p:cNvPr>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36" name="Text 27">
            <a:extLst>
              <a:ext uri="{FF2B5EF4-FFF2-40B4-BE49-F238E27FC236}">
                <a16:creationId xmlns:a16="http://schemas.microsoft.com/office/drawing/2014/main" id="{A7A61288-5296-41A6-3D1C-4F03D9A5AEA0}"/>
              </a:ext>
            </a:extLst>
          </p:cNvPr>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extLst>
      <p:ext uri="{BB962C8B-B14F-4D97-AF65-F5344CB8AC3E}">
        <p14:creationId xmlns:p14="http://schemas.microsoft.com/office/powerpoint/2010/main" val="307121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A0E17"/>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DECISION LOGIC</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Consistent, explainable business rules</a:t>
            </a:r>
            <a:endParaRPr lang="en-US" sz="3200" dirty="0"/>
          </a:p>
        </p:txBody>
      </p:sp>
      <p:sp>
        <p:nvSpPr>
          <p:cNvPr id="4" name="Text 2"/>
          <p:cNvSpPr/>
          <p:nvPr/>
        </p:nvSpPr>
        <p:spPr>
          <a:xfrm>
            <a:off x="548640" y="1554480"/>
            <a:ext cx="10789920" cy="45720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Every invoice lands in exactly one of three outcomes, determined by discrepancy severity — never by ad hoc judgment.</a:t>
            </a:r>
            <a:endParaRPr lang="en-US" sz="1400" dirty="0"/>
          </a:p>
        </p:txBody>
      </p:sp>
      <p:sp>
        <p:nvSpPr>
          <p:cNvPr id="5" name="Shape 3"/>
          <p:cNvSpPr/>
          <p:nvPr/>
        </p:nvSpPr>
        <p:spPr>
          <a:xfrm>
            <a:off x="548640" y="2194560"/>
            <a:ext cx="3456432" cy="2286000"/>
          </a:xfrm>
          <a:prstGeom prst="roundRect">
            <a:avLst>
              <a:gd name="adj" fmla="val 3600"/>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6" name="Shape 4"/>
          <p:cNvSpPr/>
          <p:nvPr/>
        </p:nvSpPr>
        <p:spPr>
          <a:xfrm>
            <a:off x="804672" y="2450592"/>
            <a:ext cx="640080" cy="640080"/>
          </a:xfrm>
          <a:prstGeom prst="ellipse">
            <a:avLst/>
          </a:prstGeom>
          <a:solidFill>
            <a:srgbClr val="10B981"/>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971093" y="2617013"/>
            <a:ext cx="307238" cy="307238"/>
          </a:xfrm>
          <a:prstGeom prst="rect">
            <a:avLst/>
          </a:prstGeom>
        </p:spPr>
      </p:pic>
      <p:sp>
        <p:nvSpPr>
          <p:cNvPr id="8" name="Text 5"/>
          <p:cNvSpPr/>
          <p:nvPr/>
        </p:nvSpPr>
        <p:spPr>
          <a:xfrm>
            <a:off x="804672" y="3246120"/>
            <a:ext cx="2944368"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Ready for Payment</a:t>
            </a:r>
            <a:endParaRPr lang="en-US" sz="1700" dirty="0"/>
          </a:p>
        </p:txBody>
      </p:sp>
      <p:sp>
        <p:nvSpPr>
          <p:cNvPr id="9" name="Text 6"/>
          <p:cNvSpPr/>
          <p:nvPr/>
        </p:nvSpPr>
        <p:spPr>
          <a:xfrm>
            <a:off x="804672" y="3675888"/>
            <a:ext cx="2944368" cy="731520"/>
          </a:xfrm>
          <a:prstGeom prst="rect">
            <a:avLst/>
          </a:prstGeom>
          <a:noFill/>
          <a:ln/>
        </p:spPr>
        <p:txBody>
          <a:bodyPr wrap="square" lIns="0" tIns="0" rIns="0" bIns="0" rtlCol="0" anchor="ctr"/>
          <a:lstStyle/>
          <a:p>
            <a:pPr marL="0" indent="0">
              <a:lnSpc>
                <a:spcPct val="125000"/>
              </a:lnSpc>
              <a:buNone/>
            </a:pPr>
            <a:r>
              <a:rPr lang="en-US" sz="1150" dirty="0">
                <a:solidFill>
                  <a:srgbClr val="94A3B8"/>
                </a:solidFill>
                <a:latin typeface="Calibri" pitchFamily="34" charset="0"/>
                <a:ea typeface="Calibri" pitchFamily="34" charset="-122"/>
                <a:cs typeface="Calibri" pitchFamily="34" charset="-120"/>
              </a:rPr>
              <a:t>Zero discrepancies, or all differences within the ±2% configurable tolerance.</a:t>
            </a:r>
            <a:endParaRPr lang="en-US" sz="1150" dirty="0"/>
          </a:p>
        </p:txBody>
      </p:sp>
      <p:sp>
        <p:nvSpPr>
          <p:cNvPr id="10" name="Shape 7"/>
          <p:cNvSpPr/>
          <p:nvPr/>
        </p:nvSpPr>
        <p:spPr>
          <a:xfrm>
            <a:off x="4187952" y="2194560"/>
            <a:ext cx="3456432" cy="2286000"/>
          </a:xfrm>
          <a:prstGeom prst="roundRect">
            <a:avLst>
              <a:gd name="adj" fmla="val 3600"/>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1" name="Shape 8"/>
          <p:cNvSpPr/>
          <p:nvPr/>
        </p:nvSpPr>
        <p:spPr>
          <a:xfrm>
            <a:off x="4443984" y="2450592"/>
            <a:ext cx="640080" cy="640080"/>
          </a:xfrm>
          <a:prstGeom prst="ellipse">
            <a:avLst/>
          </a:prstGeom>
          <a:solidFill>
            <a:srgbClr val="F59E0B"/>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4610405" y="2617013"/>
            <a:ext cx="307238" cy="307238"/>
          </a:xfrm>
          <a:prstGeom prst="rect">
            <a:avLst/>
          </a:prstGeom>
        </p:spPr>
      </p:pic>
      <p:sp>
        <p:nvSpPr>
          <p:cNvPr id="13" name="Text 9"/>
          <p:cNvSpPr/>
          <p:nvPr/>
        </p:nvSpPr>
        <p:spPr>
          <a:xfrm>
            <a:off x="4443984" y="3246120"/>
            <a:ext cx="2944368"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Procurement Review</a:t>
            </a:r>
            <a:endParaRPr lang="en-US" sz="1700" dirty="0"/>
          </a:p>
        </p:txBody>
      </p:sp>
      <p:sp>
        <p:nvSpPr>
          <p:cNvPr id="14" name="Text 10"/>
          <p:cNvSpPr/>
          <p:nvPr/>
        </p:nvSpPr>
        <p:spPr>
          <a:xfrm>
            <a:off x="4443984" y="3675888"/>
            <a:ext cx="2944368" cy="731520"/>
          </a:xfrm>
          <a:prstGeom prst="rect">
            <a:avLst/>
          </a:prstGeom>
          <a:noFill/>
          <a:ln/>
        </p:spPr>
        <p:txBody>
          <a:bodyPr wrap="square" lIns="0" tIns="0" rIns="0" bIns="0" rtlCol="0" anchor="ctr"/>
          <a:lstStyle/>
          <a:p>
            <a:pPr marL="0" indent="0">
              <a:lnSpc>
                <a:spcPct val="125000"/>
              </a:lnSpc>
              <a:buNone/>
            </a:pPr>
            <a:r>
              <a:rPr lang="en-US" sz="1150" dirty="0">
                <a:solidFill>
                  <a:srgbClr val="94A3B8"/>
                </a:solidFill>
                <a:latin typeface="Calibri" pitchFamily="34" charset="0"/>
                <a:ea typeface="Calibri" pitchFamily="34" charset="-122"/>
                <a:cs typeface="Calibri" pitchFamily="34" charset="-120"/>
              </a:rPr>
              <a:t>Minor issues only — e.g. price/quantity off by &lt;10%, or an extra line item.</a:t>
            </a:r>
            <a:endParaRPr lang="en-US" sz="1150" dirty="0"/>
          </a:p>
        </p:txBody>
      </p:sp>
      <p:sp>
        <p:nvSpPr>
          <p:cNvPr id="15" name="Shape 11"/>
          <p:cNvSpPr/>
          <p:nvPr/>
        </p:nvSpPr>
        <p:spPr>
          <a:xfrm>
            <a:off x="7827264" y="2194560"/>
            <a:ext cx="3456432" cy="2286000"/>
          </a:xfrm>
          <a:prstGeom prst="roundRect">
            <a:avLst>
              <a:gd name="adj" fmla="val 3600"/>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6" name="Shape 12"/>
          <p:cNvSpPr/>
          <p:nvPr/>
        </p:nvSpPr>
        <p:spPr>
          <a:xfrm>
            <a:off x="8083296" y="2450592"/>
            <a:ext cx="640080" cy="640080"/>
          </a:xfrm>
          <a:prstGeom prst="ellipse">
            <a:avLst/>
          </a:prstGeom>
          <a:solidFill>
            <a:srgbClr val="EF4444"/>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8249717" y="2617013"/>
            <a:ext cx="307238" cy="307238"/>
          </a:xfrm>
          <a:prstGeom prst="rect">
            <a:avLst/>
          </a:prstGeom>
        </p:spPr>
      </p:pic>
      <p:sp>
        <p:nvSpPr>
          <p:cNvPr id="18" name="Text 13"/>
          <p:cNvSpPr/>
          <p:nvPr/>
        </p:nvSpPr>
        <p:spPr>
          <a:xfrm>
            <a:off x="8083296" y="3246120"/>
            <a:ext cx="2944368"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Rejected</a:t>
            </a:r>
            <a:endParaRPr lang="en-US" sz="1700" dirty="0"/>
          </a:p>
        </p:txBody>
      </p:sp>
      <p:sp>
        <p:nvSpPr>
          <p:cNvPr id="19" name="Text 14"/>
          <p:cNvSpPr/>
          <p:nvPr/>
        </p:nvSpPr>
        <p:spPr>
          <a:xfrm>
            <a:off x="8083296" y="3675888"/>
            <a:ext cx="2944368" cy="731520"/>
          </a:xfrm>
          <a:prstGeom prst="rect">
            <a:avLst/>
          </a:prstGeom>
          <a:noFill/>
          <a:ln/>
        </p:spPr>
        <p:txBody>
          <a:bodyPr wrap="square" lIns="0" tIns="0" rIns="0" bIns="0" rtlCol="0" anchor="ctr"/>
          <a:lstStyle/>
          <a:p>
            <a:pPr marL="0" indent="0">
              <a:lnSpc>
                <a:spcPct val="125000"/>
              </a:lnSpc>
              <a:buNone/>
            </a:pPr>
            <a:r>
              <a:rPr lang="en-US" sz="1150" dirty="0">
                <a:solidFill>
                  <a:srgbClr val="94A3B8"/>
                </a:solidFill>
                <a:latin typeface="Calibri" pitchFamily="34" charset="0"/>
                <a:ea typeface="Calibri" pitchFamily="34" charset="-122"/>
                <a:cs typeface="Calibri" pitchFamily="34" charset="-120"/>
              </a:rPr>
              <a:t>Any major discrepancy — missing PO, vendor mismatch, or a difference ≥10%.</a:t>
            </a:r>
            <a:endParaRPr lang="en-US" sz="1150" dirty="0"/>
          </a:p>
        </p:txBody>
      </p:sp>
      <p:sp>
        <p:nvSpPr>
          <p:cNvPr id="20" name="Text 15"/>
          <p:cNvSpPr/>
          <p:nvPr/>
        </p:nvSpPr>
        <p:spPr>
          <a:xfrm>
            <a:off x="548640" y="4709160"/>
            <a:ext cx="45720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Example Batch Outcome Distribution</a:t>
            </a:r>
            <a:endParaRPr lang="en-US" sz="1250" dirty="0"/>
          </a:p>
        </p:txBody>
      </p:sp>
      <p:graphicFrame>
        <p:nvGraphicFramePr>
          <p:cNvPr id="21" name="Chart 0"/>
          <p:cNvGraphicFramePr/>
          <p:nvPr/>
        </p:nvGraphicFramePr>
        <p:xfrm>
          <a:off x="457200" y="5029200"/>
          <a:ext cx="4206240" cy="1691640"/>
        </p:xfrm>
        <a:graphic>
          <a:graphicData uri="http://schemas.openxmlformats.org/drawingml/2006/chart">
            <c:chart xmlns:c="http://schemas.openxmlformats.org/drawingml/2006/chart" xmlns:r="http://schemas.openxmlformats.org/officeDocument/2006/relationships" r:id="rId6"/>
          </a:graphicData>
        </a:graphic>
      </p:graphicFrame>
      <p:sp>
        <p:nvSpPr>
          <p:cNvPr id="22" name="Text 16"/>
          <p:cNvSpPr/>
          <p:nvPr/>
        </p:nvSpPr>
        <p:spPr>
          <a:xfrm>
            <a:off x="5074920" y="5074920"/>
            <a:ext cx="6309360" cy="1463040"/>
          </a:xfrm>
          <a:prstGeom prst="rect">
            <a:avLst/>
          </a:prstGeom>
          <a:noFill/>
          <a:ln/>
        </p:spPr>
        <p:txBody>
          <a:bodyPr wrap="square" lIns="0" tIns="0" rIns="0" bIns="0" rtlCol="0" anchor="ctr"/>
          <a:lstStyle/>
          <a:p>
            <a:pPr marL="0" indent="0">
              <a:lnSpc>
                <a:spcPct val="130000"/>
              </a:lnSpc>
              <a:buNone/>
            </a:pPr>
            <a:r>
              <a:rPr lang="en-US" sz="1200" i="1" dirty="0">
                <a:solidFill>
                  <a:srgbClr val="94A3B8"/>
                </a:solidFill>
                <a:latin typeface="Calibri" pitchFamily="34" charset="0"/>
                <a:ea typeface="Calibri" pitchFamily="34" charset="-122"/>
                <a:cs typeface="Calibri" pitchFamily="34" charset="-120"/>
              </a:rPr>
              <a:t>Severity thresholds are configurable via environment variables — not hardcoded — so tolerance can be tuned per deployment without touching code.</a:t>
            </a:r>
            <a:endParaRPr lang="en-US" sz="1200" dirty="0"/>
          </a:p>
        </p:txBody>
      </p:sp>
      <p:sp>
        <p:nvSpPr>
          <p:cNvPr id="24" name="Text 17"/>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25"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A0E17"/>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SECURITY</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Access control taken seriously, not bolted on</a:t>
            </a:r>
            <a:endParaRPr lang="en-US" sz="3200" dirty="0"/>
          </a:p>
        </p:txBody>
      </p:sp>
      <p:sp>
        <p:nvSpPr>
          <p:cNvPr id="4" name="Shape 2"/>
          <p:cNvSpPr/>
          <p:nvPr/>
        </p:nvSpPr>
        <p:spPr>
          <a:xfrm>
            <a:off x="548640" y="1691640"/>
            <a:ext cx="5257800" cy="1234440"/>
          </a:xfrm>
          <a:prstGeom prst="roundRect">
            <a:avLst>
              <a:gd name="adj" fmla="val 592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5" name="Shape 3"/>
          <p:cNvSpPr/>
          <p:nvPr/>
        </p:nvSpPr>
        <p:spPr>
          <a:xfrm>
            <a:off x="731520" y="1984248"/>
            <a:ext cx="502920" cy="502920"/>
          </a:xfrm>
          <a:prstGeom prst="ellipse">
            <a:avLst/>
          </a:prstGeom>
          <a:solidFill>
            <a:srgbClr val="1A2133"/>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862279" y="2115007"/>
            <a:ext cx="241402" cy="241402"/>
          </a:xfrm>
          <a:prstGeom prst="rect">
            <a:avLst/>
          </a:prstGeom>
        </p:spPr>
      </p:pic>
      <p:sp>
        <p:nvSpPr>
          <p:cNvPr id="7" name="Text 4"/>
          <p:cNvSpPr/>
          <p:nvPr/>
        </p:nvSpPr>
        <p:spPr>
          <a:xfrm>
            <a:off x="1371600" y="1819656"/>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JWT-Based Authentication</a:t>
            </a:r>
            <a:endParaRPr lang="en-US" sz="1400" dirty="0"/>
          </a:p>
        </p:txBody>
      </p:sp>
      <p:sp>
        <p:nvSpPr>
          <p:cNvPr id="8" name="Text 5"/>
          <p:cNvSpPr/>
          <p:nvPr/>
        </p:nvSpPr>
        <p:spPr>
          <a:xfrm>
            <a:off x="1371600" y="2167128"/>
            <a:ext cx="4251960" cy="64008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Every data endpoint requires a signed, time-limited access token.</a:t>
            </a:r>
            <a:endParaRPr lang="en-US" sz="1050" dirty="0"/>
          </a:p>
        </p:txBody>
      </p:sp>
      <p:sp>
        <p:nvSpPr>
          <p:cNvPr id="9" name="Shape 6"/>
          <p:cNvSpPr/>
          <p:nvPr/>
        </p:nvSpPr>
        <p:spPr>
          <a:xfrm>
            <a:off x="6172200" y="1691640"/>
            <a:ext cx="5257800" cy="1234440"/>
          </a:xfrm>
          <a:prstGeom prst="roundRect">
            <a:avLst>
              <a:gd name="adj" fmla="val 592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0" name="Shape 7"/>
          <p:cNvSpPr/>
          <p:nvPr/>
        </p:nvSpPr>
        <p:spPr>
          <a:xfrm>
            <a:off x="6355080" y="1984248"/>
            <a:ext cx="502920" cy="502920"/>
          </a:xfrm>
          <a:prstGeom prst="ellipse">
            <a:avLst/>
          </a:prstGeom>
          <a:solidFill>
            <a:srgbClr val="1A2133"/>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6485839" y="2115007"/>
            <a:ext cx="241402" cy="241402"/>
          </a:xfrm>
          <a:prstGeom prst="rect">
            <a:avLst/>
          </a:prstGeom>
        </p:spPr>
      </p:pic>
      <p:sp>
        <p:nvSpPr>
          <p:cNvPr id="12" name="Text 8"/>
          <p:cNvSpPr/>
          <p:nvPr/>
        </p:nvSpPr>
        <p:spPr>
          <a:xfrm>
            <a:off x="6995160" y="1819656"/>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Bcrypt Password Hashing</a:t>
            </a:r>
            <a:endParaRPr lang="en-US" sz="1400" dirty="0"/>
          </a:p>
        </p:txBody>
      </p:sp>
      <p:sp>
        <p:nvSpPr>
          <p:cNvPr id="13" name="Text 9"/>
          <p:cNvSpPr/>
          <p:nvPr/>
        </p:nvSpPr>
        <p:spPr>
          <a:xfrm>
            <a:off x="6995160" y="2167128"/>
            <a:ext cx="4251960" cy="64008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Credentials are never stored in plaintext, anywhere.</a:t>
            </a:r>
            <a:endParaRPr lang="en-US" sz="1050" dirty="0"/>
          </a:p>
        </p:txBody>
      </p:sp>
      <p:sp>
        <p:nvSpPr>
          <p:cNvPr id="14" name="Shape 10"/>
          <p:cNvSpPr/>
          <p:nvPr/>
        </p:nvSpPr>
        <p:spPr>
          <a:xfrm>
            <a:off x="548640" y="3072384"/>
            <a:ext cx="5257800" cy="1234440"/>
          </a:xfrm>
          <a:prstGeom prst="roundRect">
            <a:avLst>
              <a:gd name="adj" fmla="val 592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5" name="Shape 11"/>
          <p:cNvSpPr/>
          <p:nvPr/>
        </p:nvSpPr>
        <p:spPr>
          <a:xfrm>
            <a:off x="731520" y="3364992"/>
            <a:ext cx="502920" cy="502920"/>
          </a:xfrm>
          <a:prstGeom prst="ellipse">
            <a:avLst/>
          </a:prstGeom>
          <a:solidFill>
            <a:srgbClr val="1A2133"/>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862279" y="3495751"/>
            <a:ext cx="241402" cy="241402"/>
          </a:xfrm>
          <a:prstGeom prst="rect">
            <a:avLst/>
          </a:prstGeom>
        </p:spPr>
      </p:pic>
      <p:sp>
        <p:nvSpPr>
          <p:cNvPr id="17" name="Text 12"/>
          <p:cNvSpPr/>
          <p:nvPr/>
        </p:nvSpPr>
        <p:spPr>
          <a:xfrm>
            <a:off x="1371600" y="3200400"/>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Login Rate Limiting</a:t>
            </a:r>
            <a:endParaRPr lang="en-US" sz="1400" dirty="0"/>
          </a:p>
        </p:txBody>
      </p:sp>
      <p:sp>
        <p:nvSpPr>
          <p:cNvPr id="18" name="Text 13"/>
          <p:cNvSpPr/>
          <p:nvPr/>
        </p:nvSpPr>
        <p:spPr>
          <a:xfrm>
            <a:off x="1371600" y="3547872"/>
            <a:ext cx="4251960" cy="64008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Brute-force protection caps repeated failed login attempts per IP.</a:t>
            </a:r>
            <a:endParaRPr lang="en-US" sz="1050" dirty="0"/>
          </a:p>
        </p:txBody>
      </p:sp>
      <p:sp>
        <p:nvSpPr>
          <p:cNvPr id="19" name="Shape 14"/>
          <p:cNvSpPr/>
          <p:nvPr/>
        </p:nvSpPr>
        <p:spPr>
          <a:xfrm>
            <a:off x="6172200" y="3072384"/>
            <a:ext cx="5257800" cy="1234440"/>
          </a:xfrm>
          <a:prstGeom prst="roundRect">
            <a:avLst>
              <a:gd name="adj" fmla="val 592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20" name="Shape 15"/>
          <p:cNvSpPr/>
          <p:nvPr/>
        </p:nvSpPr>
        <p:spPr>
          <a:xfrm>
            <a:off x="6355080" y="3364992"/>
            <a:ext cx="502920" cy="502920"/>
          </a:xfrm>
          <a:prstGeom prst="ellipse">
            <a:avLst/>
          </a:prstGeom>
          <a:solidFill>
            <a:srgbClr val="1A2133"/>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6485839" y="3495751"/>
            <a:ext cx="241402" cy="241402"/>
          </a:xfrm>
          <a:prstGeom prst="rect">
            <a:avLst/>
          </a:prstGeom>
        </p:spPr>
      </p:pic>
      <p:sp>
        <p:nvSpPr>
          <p:cNvPr id="22" name="Text 16"/>
          <p:cNvSpPr/>
          <p:nvPr/>
        </p:nvSpPr>
        <p:spPr>
          <a:xfrm>
            <a:off x="6995160" y="3200400"/>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Generic Error Messages</a:t>
            </a:r>
            <a:endParaRPr lang="en-US" sz="1400" dirty="0"/>
          </a:p>
        </p:txBody>
      </p:sp>
      <p:sp>
        <p:nvSpPr>
          <p:cNvPr id="23" name="Text 17"/>
          <p:cNvSpPr/>
          <p:nvPr/>
        </p:nvSpPr>
        <p:spPr>
          <a:xfrm>
            <a:off x="6995160" y="3547872"/>
            <a:ext cx="4251960" cy="64008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Failed logins never reveal whether the username or password was wrong.</a:t>
            </a:r>
            <a:endParaRPr lang="en-US" sz="1050" dirty="0"/>
          </a:p>
        </p:txBody>
      </p:sp>
      <p:sp>
        <p:nvSpPr>
          <p:cNvPr id="24" name="Shape 18"/>
          <p:cNvSpPr/>
          <p:nvPr/>
        </p:nvSpPr>
        <p:spPr>
          <a:xfrm>
            <a:off x="548640" y="4453128"/>
            <a:ext cx="5257800" cy="1234440"/>
          </a:xfrm>
          <a:prstGeom prst="roundRect">
            <a:avLst>
              <a:gd name="adj" fmla="val 592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25" name="Shape 19"/>
          <p:cNvSpPr/>
          <p:nvPr/>
        </p:nvSpPr>
        <p:spPr>
          <a:xfrm>
            <a:off x="731520" y="4745736"/>
            <a:ext cx="502920" cy="502920"/>
          </a:xfrm>
          <a:prstGeom prst="ellipse">
            <a:avLst/>
          </a:prstGeom>
          <a:solidFill>
            <a:srgbClr val="1A2133"/>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862279" y="4876495"/>
            <a:ext cx="241402" cy="241402"/>
          </a:xfrm>
          <a:prstGeom prst="rect">
            <a:avLst/>
          </a:prstGeom>
        </p:spPr>
      </p:pic>
      <p:sp>
        <p:nvSpPr>
          <p:cNvPr id="27" name="Text 20"/>
          <p:cNvSpPr/>
          <p:nvPr/>
        </p:nvSpPr>
        <p:spPr>
          <a:xfrm>
            <a:off x="1371600" y="4581144"/>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Environment-Based Secrets</a:t>
            </a:r>
            <a:endParaRPr lang="en-US" sz="1400" dirty="0"/>
          </a:p>
        </p:txBody>
      </p:sp>
      <p:sp>
        <p:nvSpPr>
          <p:cNvPr id="28" name="Text 21"/>
          <p:cNvSpPr/>
          <p:nvPr/>
        </p:nvSpPr>
        <p:spPr>
          <a:xfrm>
            <a:off x="1371600" y="4928616"/>
            <a:ext cx="4251960" cy="64008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JWT keys and default credentials are sourced from .env, never hardcoded.</a:t>
            </a:r>
            <a:endParaRPr lang="en-US" sz="1050" dirty="0"/>
          </a:p>
        </p:txBody>
      </p:sp>
      <p:sp>
        <p:nvSpPr>
          <p:cNvPr id="29" name="Shape 22"/>
          <p:cNvSpPr/>
          <p:nvPr/>
        </p:nvSpPr>
        <p:spPr>
          <a:xfrm>
            <a:off x="6172200" y="4453128"/>
            <a:ext cx="5257800" cy="1234440"/>
          </a:xfrm>
          <a:prstGeom prst="roundRect">
            <a:avLst>
              <a:gd name="adj" fmla="val 5926"/>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30" name="Shape 23"/>
          <p:cNvSpPr/>
          <p:nvPr/>
        </p:nvSpPr>
        <p:spPr>
          <a:xfrm>
            <a:off x="6355080" y="4745736"/>
            <a:ext cx="502920" cy="502920"/>
          </a:xfrm>
          <a:prstGeom prst="ellipse">
            <a:avLst/>
          </a:prstGeom>
          <a:solidFill>
            <a:srgbClr val="1A2133"/>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6485839" y="4876495"/>
            <a:ext cx="241402" cy="241402"/>
          </a:xfrm>
          <a:prstGeom prst="rect">
            <a:avLst/>
          </a:prstGeom>
        </p:spPr>
      </p:pic>
      <p:sp>
        <p:nvSpPr>
          <p:cNvPr id="32" name="Text 24"/>
          <p:cNvSpPr/>
          <p:nvPr/>
        </p:nvSpPr>
        <p:spPr>
          <a:xfrm>
            <a:off x="6995160" y="4581144"/>
            <a:ext cx="4251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Session-Scoped Tokens</a:t>
            </a:r>
            <a:endParaRPr lang="en-US" sz="1400" dirty="0"/>
          </a:p>
        </p:txBody>
      </p:sp>
      <p:sp>
        <p:nvSpPr>
          <p:cNvPr id="33" name="Text 25"/>
          <p:cNvSpPr/>
          <p:nvPr/>
        </p:nvSpPr>
        <p:spPr>
          <a:xfrm>
            <a:off x="6995160" y="4928616"/>
            <a:ext cx="4251960" cy="640080"/>
          </a:xfrm>
          <a:prstGeom prst="rect">
            <a:avLst/>
          </a:prstGeom>
          <a:noFill/>
          <a:ln/>
        </p:spPr>
        <p:txBody>
          <a:bodyPr wrap="square" lIns="0" tIns="0" rIns="0" bIns="0" rtlCol="0" anchor="ctr"/>
          <a:lstStyle/>
          <a:p>
            <a:pPr marL="0" indent="0">
              <a:lnSpc>
                <a:spcPct val="120000"/>
              </a:lnSpc>
              <a:buNone/>
            </a:pPr>
            <a:r>
              <a:rPr lang="en-US" sz="1050" dirty="0">
                <a:solidFill>
                  <a:srgbClr val="94A3B8"/>
                </a:solidFill>
                <a:latin typeface="Calibri" pitchFamily="34" charset="0"/>
                <a:ea typeface="Calibri" pitchFamily="34" charset="-122"/>
                <a:cs typeface="Calibri" pitchFamily="34" charset="-120"/>
              </a:rPr>
              <a:t>Tokens live in sessionStorage, cleared automatically when the tab closes.</a:t>
            </a:r>
            <a:endParaRPr lang="en-US" sz="1050" dirty="0"/>
          </a:p>
        </p:txBody>
      </p:sp>
      <p:sp>
        <p:nvSpPr>
          <p:cNvPr id="35" name="Text 26"/>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36"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A0E17"/>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RELIABILITY</a:t>
            </a:r>
            <a:endParaRPr lang="en-US" sz="13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Designed to degrade gracefully, never to crash</a:t>
            </a:r>
            <a:endParaRPr lang="en-US" sz="3200" dirty="0"/>
          </a:p>
        </p:txBody>
      </p:sp>
      <p:sp>
        <p:nvSpPr>
          <p:cNvPr id="4" name="Text 2"/>
          <p:cNvSpPr/>
          <p:nvPr/>
        </p:nvSpPr>
        <p:spPr>
          <a:xfrm>
            <a:off x="548640" y="1554480"/>
            <a:ext cx="10789920" cy="502920"/>
          </a:xfrm>
          <a:prstGeom prst="rect">
            <a:avLst/>
          </a:prstGeom>
          <a:noFill/>
          <a:ln/>
        </p:spPr>
        <p:txBody>
          <a:bodyPr wrap="square" lIns="0" tIns="0" rIns="0" bIns="0" rtlCol="0" anchor="ctr"/>
          <a:lstStyle/>
          <a:p>
            <a:pPr marL="0" indent="0">
              <a:lnSpc>
                <a:spcPct val="120000"/>
              </a:lnSpc>
              <a:buNone/>
            </a:pPr>
            <a:r>
              <a:rPr lang="en-US" sz="1400" dirty="0">
                <a:solidFill>
                  <a:srgbClr val="94A3B8"/>
                </a:solidFill>
                <a:latin typeface="Calibri" pitchFamily="34" charset="0"/>
                <a:ea typeface="Calibri" pitchFamily="34" charset="-122"/>
                <a:cs typeface="Calibri" pitchFamily="34" charset="-120"/>
              </a:rPr>
              <a:t>The pipeline treats failure as an expected input, not an exception to fear. Every failure mode routes to a safe, reviewable state instead of losing data.</a:t>
            </a:r>
            <a:endParaRPr lang="en-US" sz="1400" dirty="0"/>
          </a:p>
        </p:txBody>
      </p:sp>
      <p:sp>
        <p:nvSpPr>
          <p:cNvPr id="5" name="Shape 3"/>
          <p:cNvSpPr/>
          <p:nvPr/>
        </p:nvSpPr>
        <p:spPr>
          <a:xfrm>
            <a:off x="548640" y="2286000"/>
            <a:ext cx="11064240" cy="749808"/>
          </a:xfrm>
          <a:prstGeom prst="roundRect">
            <a:avLst>
              <a:gd name="adj" fmla="val 853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6" name="Shape 4"/>
          <p:cNvSpPr/>
          <p:nvPr/>
        </p:nvSpPr>
        <p:spPr>
          <a:xfrm>
            <a:off x="713232" y="2441448"/>
            <a:ext cx="438912" cy="438912"/>
          </a:xfrm>
          <a:prstGeom prst="ellipse">
            <a:avLst/>
          </a:prstGeom>
          <a:solidFill>
            <a:srgbClr val="1A2133"/>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827349" y="2555565"/>
            <a:ext cx="210678" cy="210678"/>
          </a:xfrm>
          <a:prstGeom prst="rect">
            <a:avLst/>
          </a:prstGeom>
        </p:spPr>
      </p:pic>
      <p:sp>
        <p:nvSpPr>
          <p:cNvPr id="8" name="Text 5"/>
          <p:cNvSpPr/>
          <p:nvPr/>
        </p:nvSpPr>
        <p:spPr>
          <a:xfrm>
            <a:off x="1371600" y="2286000"/>
            <a:ext cx="3291840" cy="749808"/>
          </a:xfrm>
          <a:prstGeom prst="rect">
            <a:avLst/>
          </a:prstGeom>
          <a:noFill/>
          <a:ln/>
        </p:spPr>
        <p:txBody>
          <a:bodyPr wrap="square" lIns="0" tIns="0" rIns="0" bIns="0" rtlCol="0" anchor="ctr"/>
          <a:lstStyle/>
          <a:p>
            <a:pPr marL="0" indent="0">
              <a:buNone/>
            </a:pPr>
            <a:r>
              <a:rPr lang="en-US" sz="1250" b="1" dirty="0">
                <a:solidFill>
                  <a:srgbClr val="F59E0B"/>
                </a:solidFill>
                <a:latin typeface="Calibri" pitchFamily="34" charset="0"/>
                <a:ea typeface="Calibri" pitchFamily="34" charset="-122"/>
                <a:cs typeface="Calibri" pitchFamily="34" charset="-120"/>
              </a:rPr>
              <a:t>Corrupted or empty PDF</a:t>
            </a:r>
            <a:endParaRPr lang="en-US" sz="1250" dirty="0"/>
          </a:p>
        </p:txBody>
      </p:sp>
      <p:sp>
        <p:nvSpPr>
          <p:cNvPr id="9" name="Text 6"/>
          <p:cNvSpPr/>
          <p:nvPr/>
        </p:nvSpPr>
        <p:spPr>
          <a:xfrm>
            <a:off x="4800600" y="2286000"/>
            <a:ext cx="6629400" cy="749808"/>
          </a:xfrm>
          <a:prstGeom prst="rect">
            <a:avLst/>
          </a:prstGeom>
          <a:noFill/>
          <a:ln/>
        </p:spPr>
        <p:txBody>
          <a:bodyPr wrap="square" lIns="0" tIns="0" rIns="0" bIns="0" rtlCol="0" anchor="ctr"/>
          <a:lstStyle/>
          <a:p>
            <a:pPr marL="0" indent="0">
              <a:lnSpc>
                <a:spcPct val="115000"/>
              </a:lnSpc>
              <a:buNone/>
            </a:pPr>
            <a:r>
              <a:rPr lang="en-US" sz="1150" dirty="0">
                <a:solidFill>
                  <a:srgbClr val="94A3B8"/>
                </a:solidFill>
                <a:latin typeface="Calibri" pitchFamily="34" charset="0"/>
                <a:ea typeface="Calibri" pitchFamily="34" charset="-122"/>
                <a:cs typeface="Calibri" pitchFamily="34" charset="-120"/>
              </a:rPr>
              <a:t>Extraction error caught → invoice saved with a warning → routed to Procurement Review, not dropped.</a:t>
            </a:r>
            <a:endParaRPr lang="en-US" sz="1150" dirty="0"/>
          </a:p>
        </p:txBody>
      </p:sp>
      <p:sp>
        <p:nvSpPr>
          <p:cNvPr id="10" name="Shape 7"/>
          <p:cNvSpPr/>
          <p:nvPr/>
        </p:nvSpPr>
        <p:spPr>
          <a:xfrm>
            <a:off x="548640" y="3163824"/>
            <a:ext cx="11064240" cy="749808"/>
          </a:xfrm>
          <a:prstGeom prst="roundRect">
            <a:avLst>
              <a:gd name="adj" fmla="val 853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1" name="Shape 8"/>
          <p:cNvSpPr/>
          <p:nvPr/>
        </p:nvSpPr>
        <p:spPr>
          <a:xfrm>
            <a:off x="713232" y="3319272"/>
            <a:ext cx="438912" cy="438912"/>
          </a:xfrm>
          <a:prstGeom prst="ellipse">
            <a:avLst/>
          </a:prstGeom>
          <a:solidFill>
            <a:srgbClr val="1A2133"/>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827349" y="3433389"/>
            <a:ext cx="210678" cy="210678"/>
          </a:xfrm>
          <a:prstGeom prst="rect">
            <a:avLst/>
          </a:prstGeom>
        </p:spPr>
      </p:pic>
      <p:sp>
        <p:nvSpPr>
          <p:cNvPr id="13" name="Text 9"/>
          <p:cNvSpPr/>
          <p:nvPr/>
        </p:nvSpPr>
        <p:spPr>
          <a:xfrm>
            <a:off x="1371600" y="3163824"/>
            <a:ext cx="3291840" cy="749808"/>
          </a:xfrm>
          <a:prstGeom prst="rect">
            <a:avLst/>
          </a:prstGeom>
          <a:noFill/>
          <a:ln/>
        </p:spPr>
        <p:txBody>
          <a:bodyPr wrap="square" lIns="0" tIns="0" rIns="0" bIns="0" rtlCol="0" anchor="ctr"/>
          <a:lstStyle/>
          <a:p>
            <a:pPr marL="0" indent="0">
              <a:buNone/>
            </a:pPr>
            <a:r>
              <a:rPr lang="en-US" sz="1250" b="1" dirty="0">
                <a:solidFill>
                  <a:srgbClr val="F59E0B"/>
                </a:solidFill>
                <a:latin typeface="Calibri" pitchFamily="34" charset="0"/>
                <a:ea typeface="Calibri" pitchFamily="34" charset="-122"/>
                <a:cs typeface="Calibri" pitchFamily="34" charset="-120"/>
              </a:rPr>
              <a:t>Malformed AI JSON response</a:t>
            </a:r>
            <a:endParaRPr lang="en-US" sz="1250" dirty="0"/>
          </a:p>
        </p:txBody>
      </p:sp>
      <p:sp>
        <p:nvSpPr>
          <p:cNvPr id="14" name="Text 10"/>
          <p:cNvSpPr/>
          <p:nvPr/>
        </p:nvSpPr>
        <p:spPr>
          <a:xfrm>
            <a:off x="4800600" y="3163824"/>
            <a:ext cx="6629400" cy="749808"/>
          </a:xfrm>
          <a:prstGeom prst="rect">
            <a:avLst/>
          </a:prstGeom>
          <a:noFill/>
          <a:ln/>
        </p:spPr>
        <p:txBody>
          <a:bodyPr wrap="square" lIns="0" tIns="0" rIns="0" bIns="0" rtlCol="0" anchor="ctr"/>
          <a:lstStyle/>
          <a:p>
            <a:pPr marL="0" indent="0">
              <a:lnSpc>
                <a:spcPct val="115000"/>
              </a:lnSpc>
              <a:buNone/>
            </a:pPr>
            <a:r>
              <a:rPr lang="en-US" sz="1150" dirty="0">
                <a:solidFill>
                  <a:srgbClr val="94A3B8"/>
                </a:solidFill>
                <a:latin typeface="Calibri" pitchFamily="34" charset="0"/>
                <a:ea typeface="Calibri" pitchFamily="34" charset="-122"/>
                <a:cs typeface="Calibri" pitchFamily="34" charset="-120"/>
              </a:rPr>
              <a:t>One corrective retry prompt; on repeated failure, flagged with extraction_failed instead of crashing.</a:t>
            </a:r>
            <a:endParaRPr lang="en-US" sz="1150" dirty="0"/>
          </a:p>
        </p:txBody>
      </p:sp>
      <p:sp>
        <p:nvSpPr>
          <p:cNvPr id="15" name="Shape 11"/>
          <p:cNvSpPr/>
          <p:nvPr/>
        </p:nvSpPr>
        <p:spPr>
          <a:xfrm>
            <a:off x="548640" y="4041648"/>
            <a:ext cx="11064240" cy="749808"/>
          </a:xfrm>
          <a:prstGeom prst="roundRect">
            <a:avLst>
              <a:gd name="adj" fmla="val 853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6" name="Shape 12"/>
          <p:cNvSpPr/>
          <p:nvPr/>
        </p:nvSpPr>
        <p:spPr>
          <a:xfrm>
            <a:off x="713232" y="4197096"/>
            <a:ext cx="438912" cy="438912"/>
          </a:xfrm>
          <a:prstGeom prst="ellipse">
            <a:avLst/>
          </a:prstGeom>
          <a:solidFill>
            <a:srgbClr val="1A2133"/>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827349" y="4311213"/>
            <a:ext cx="210678" cy="210678"/>
          </a:xfrm>
          <a:prstGeom prst="rect">
            <a:avLst/>
          </a:prstGeom>
        </p:spPr>
      </p:pic>
      <p:sp>
        <p:nvSpPr>
          <p:cNvPr id="18" name="Text 13"/>
          <p:cNvSpPr/>
          <p:nvPr/>
        </p:nvSpPr>
        <p:spPr>
          <a:xfrm>
            <a:off x="1371600" y="4041648"/>
            <a:ext cx="3291840" cy="749808"/>
          </a:xfrm>
          <a:prstGeom prst="rect">
            <a:avLst/>
          </a:prstGeom>
          <a:noFill/>
          <a:ln/>
        </p:spPr>
        <p:txBody>
          <a:bodyPr wrap="square" lIns="0" tIns="0" rIns="0" bIns="0" rtlCol="0" anchor="ctr"/>
          <a:lstStyle/>
          <a:p>
            <a:pPr marL="0" indent="0">
              <a:buNone/>
            </a:pPr>
            <a:r>
              <a:rPr lang="en-US" sz="1250" b="1" dirty="0">
                <a:solidFill>
                  <a:srgbClr val="F59E0B"/>
                </a:solidFill>
                <a:latin typeface="Calibri" pitchFamily="34" charset="0"/>
                <a:ea typeface="Calibri" pitchFamily="34" charset="-122"/>
                <a:cs typeface="Calibri" pitchFamily="34" charset="-120"/>
              </a:rPr>
              <a:t>Groq API timeout / rate limit</a:t>
            </a:r>
            <a:endParaRPr lang="en-US" sz="1250" dirty="0"/>
          </a:p>
        </p:txBody>
      </p:sp>
      <p:sp>
        <p:nvSpPr>
          <p:cNvPr id="19" name="Text 14"/>
          <p:cNvSpPr/>
          <p:nvPr/>
        </p:nvSpPr>
        <p:spPr>
          <a:xfrm>
            <a:off x="4800600" y="4041648"/>
            <a:ext cx="6629400" cy="749808"/>
          </a:xfrm>
          <a:prstGeom prst="rect">
            <a:avLst/>
          </a:prstGeom>
          <a:noFill/>
          <a:ln/>
        </p:spPr>
        <p:txBody>
          <a:bodyPr wrap="square" lIns="0" tIns="0" rIns="0" bIns="0" rtlCol="0" anchor="ctr"/>
          <a:lstStyle/>
          <a:p>
            <a:pPr marL="0" indent="0">
              <a:lnSpc>
                <a:spcPct val="115000"/>
              </a:lnSpc>
              <a:buNone/>
            </a:pPr>
            <a:r>
              <a:rPr lang="en-US" sz="1150" dirty="0">
                <a:solidFill>
                  <a:srgbClr val="94A3B8"/>
                </a:solidFill>
                <a:latin typeface="Calibri" pitchFamily="34" charset="0"/>
                <a:ea typeface="Calibri" pitchFamily="34" charset="-122"/>
                <a:cs typeface="Calibri" pitchFamily="34" charset="-120"/>
              </a:rPr>
              <a:t>Automatic retry with exponential backoff (up to 3 attempts) before surfacing an error.</a:t>
            </a:r>
            <a:endParaRPr lang="en-US" sz="1150" dirty="0"/>
          </a:p>
        </p:txBody>
      </p:sp>
      <p:sp>
        <p:nvSpPr>
          <p:cNvPr id="20" name="Shape 15"/>
          <p:cNvSpPr/>
          <p:nvPr/>
        </p:nvSpPr>
        <p:spPr>
          <a:xfrm>
            <a:off x="548640" y="4919472"/>
            <a:ext cx="11064240" cy="749808"/>
          </a:xfrm>
          <a:prstGeom prst="roundRect">
            <a:avLst>
              <a:gd name="adj" fmla="val 853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21" name="Shape 16"/>
          <p:cNvSpPr/>
          <p:nvPr/>
        </p:nvSpPr>
        <p:spPr>
          <a:xfrm>
            <a:off x="713232" y="5074920"/>
            <a:ext cx="438912" cy="438912"/>
          </a:xfrm>
          <a:prstGeom prst="ellipse">
            <a:avLst/>
          </a:prstGeom>
          <a:solidFill>
            <a:srgbClr val="1A2133"/>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827349" y="5189037"/>
            <a:ext cx="210678" cy="210678"/>
          </a:xfrm>
          <a:prstGeom prst="rect">
            <a:avLst/>
          </a:prstGeom>
        </p:spPr>
      </p:pic>
      <p:sp>
        <p:nvSpPr>
          <p:cNvPr id="23" name="Text 17"/>
          <p:cNvSpPr/>
          <p:nvPr/>
        </p:nvSpPr>
        <p:spPr>
          <a:xfrm>
            <a:off x="1371600" y="4919472"/>
            <a:ext cx="3291840" cy="749808"/>
          </a:xfrm>
          <a:prstGeom prst="rect">
            <a:avLst/>
          </a:prstGeom>
          <a:noFill/>
          <a:ln/>
        </p:spPr>
        <p:txBody>
          <a:bodyPr wrap="square" lIns="0" tIns="0" rIns="0" bIns="0" rtlCol="0" anchor="ctr"/>
          <a:lstStyle/>
          <a:p>
            <a:pPr marL="0" indent="0">
              <a:buNone/>
            </a:pPr>
            <a:r>
              <a:rPr lang="en-US" sz="1250" b="1" dirty="0">
                <a:solidFill>
                  <a:srgbClr val="F59E0B"/>
                </a:solidFill>
                <a:latin typeface="Calibri" pitchFamily="34" charset="0"/>
                <a:ea typeface="Calibri" pitchFamily="34" charset="-122"/>
                <a:cs typeface="Calibri" pitchFamily="34" charset="-120"/>
              </a:rPr>
              <a:t>Database write contention</a:t>
            </a:r>
            <a:endParaRPr lang="en-US" sz="1250" dirty="0"/>
          </a:p>
        </p:txBody>
      </p:sp>
      <p:sp>
        <p:nvSpPr>
          <p:cNvPr id="24" name="Text 18"/>
          <p:cNvSpPr/>
          <p:nvPr/>
        </p:nvSpPr>
        <p:spPr>
          <a:xfrm>
            <a:off x="4800600" y="4919472"/>
            <a:ext cx="6629400" cy="749808"/>
          </a:xfrm>
          <a:prstGeom prst="rect">
            <a:avLst/>
          </a:prstGeom>
          <a:noFill/>
          <a:ln/>
        </p:spPr>
        <p:txBody>
          <a:bodyPr wrap="square" lIns="0" tIns="0" rIns="0" bIns="0" rtlCol="0" anchor="ctr"/>
          <a:lstStyle/>
          <a:p>
            <a:pPr marL="0" indent="0">
              <a:lnSpc>
                <a:spcPct val="115000"/>
              </a:lnSpc>
              <a:buNone/>
            </a:pPr>
            <a:r>
              <a:rPr lang="en-US" sz="1150" dirty="0">
                <a:solidFill>
                  <a:srgbClr val="94A3B8"/>
                </a:solidFill>
                <a:latin typeface="Calibri" pitchFamily="34" charset="0"/>
                <a:ea typeface="Calibri" pitchFamily="34" charset="-122"/>
                <a:cs typeface="Calibri" pitchFamily="34" charset="-120"/>
              </a:rPr>
              <a:t>Retry-with-backoff wrapper around commits absorbs transient SQLite lock errors.</a:t>
            </a:r>
            <a:endParaRPr lang="en-US" sz="1150" dirty="0"/>
          </a:p>
        </p:txBody>
      </p:sp>
      <p:sp>
        <p:nvSpPr>
          <p:cNvPr id="25" name="Shape 19"/>
          <p:cNvSpPr/>
          <p:nvPr/>
        </p:nvSpPr>
        <p:spPr>
          <a:xfrm>
            <a:off x="548640" y="5797296"/>
            <a:ext cx="11064240" cy="749808"/>
          </a:xfrm>
          <a:prstGeom prst="roundRect">
            <a:avLst>
              <a:gd name="adj" fmla="val 8537"/>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26" name="Shape 20"/>
          <p:cNvSpPr/>
          <p:nvPr/>
        </p:nvSpPr>
        <p:spPr>
          <a:xfrm>
            <a:off x="713232" y="5952744"/>
            <a:ext cx="438912" cy="438912"/>
          </a:xfrm>
          <a:prstGeom prst="ellipse">
            <a:avLst/>
          </a:prstGeom>
          <a:solidFill>
            <a:srgbClr val="1A2133"/>
          </a:solidFill>
          <a:ln/>
        </p:spPr>
        <p:txBody>
          <a:bodyPr/>
          <a:lstStyle/>
          <a:p>
            <a:endParaRPr lang="en-IN"/>
          </a:p>
        </p:txBody>
      </p:sp>
      <p:pic>
        <p:nvPicPr>
          <p:cNvPr id="27" name="Image 4" descr="preencoded.png"/>
          <p:cNvPicPr>
            <a:picLocks noChangeAspect="1"/>
          </p:cNvPicPr>
          <p:nvPr/>
        </p:nvPicPr>
        <p:blipFill>
          <a:blip r:embed="rId7"/>
          <a:stretch>
            <a:fillRect/>
          </a:stretch>
        </p:blipFill>
        <p:spPr>
          <a:xfrm>
            <a:off x="827349" y="6066861"/>
            <a:ext cx="210678" cy="210678"/>
          </a:xfrm>
          <a:prstGeom prst="rect">
            <a:avLst/>
          </a:prstGeom>
        </p:spPr>
      </p:pic>
      <p:sp>
        <p:nvSpPr>
          <p:cNvPr id="28" name="Text 21"/>
          <p:cNvSpPr/>
          <p:nvPr/>
        </p:nvSpPr>
        <p:spPr>
          <a:xfrm>
            <a:off x="1371600" y="5797296"/>
            <a:ext cx="3291840" cy="749808"/>
          </a:xfrm>
          <a:prstGeom prst="rect">
            <a:avLst/>
          </a:prstGeom>
          <a:noFill/>
          <a:ln/>
        </p:spPr>
        <p:txBody>
          <a:bodyPr wrap="square" lIns="0" tIns="0" rIns="0" bIns="0" rtlCol="0" anchor="ctr"/>
          <a:lstStyle/>
          <a:p>
            <a:pPr marL="0" indent="0">
              <a:buNone/>
            </a:pPr>
            <a:r>
              <a:rPr lang="en-US" sz="1250" b="1" dirty="0">
                <a:solidFill>
                  <a:srgbClr val="F59E0B"/>
                </a:solidFill>
                <a:latin typeface="Calibri" pitchFamily="34" charset="0"/>
                <a:ea typeface="Calibri" pitchFamily="34" charset="-122"/>
                <a:cs typeface="Calibri" pitchFamily="34" charset="-120"/>
              </a:rPr>
              <a:t>Duplicate invoice submission</a:t>
            </a:r>
            <a:endParaRPr lang="en-US" sz="1250" dirty="0"/>
          </a:p>
        </p:txBody>
      </p:sp>
      <p:sp>
        <p:nvSpPr>
          <p:cNvPr id="29" name="Text 22"/>
          <p:cNvSpPr/>
          <p:nvPr/>
        </p:nvSpPr>
        <p:spPr>
          <a:xfrm>
            <a:off x="4800600" y="5797296"/>
            <a:ext cx="6629400" cy="749808"/>
          </a:xfrm>
          <a:prstGeom prst="rect">
            <a:avLst/>
          </a:prstGeom>
          <a:noFill/>
          <a:ln/>
        </p:spPr>
        <p:txBody>
          <a:bodyPr wrap="square" lIns="0" tIns="0" rIns="0" bIns="0" rtlCol="0" anchor="ctr"/>
          <a:lstStyle/>
          <a:p>
            <a:pPr marL="0" indent="0">
              <a:lnSpc>
                <a:spcPct val="115000"/>
              </a:lnSpc>
              <a:buNone/>
            </a:pPr>
            <a:r>
              <a:rPr lang="en-US" sz="1150" dirty="0">
                <a:solidFill>
                  <a:srgbClr val="94A3B8"/>
                </a:solidFill>
                <a:latin typeface="Calibri" pitchFamily="34" charset="0"/>
                <a:ea typeface="Calibri" pitchFamily="34" charset="-122"/>
                <a:cs typeface="Calibri" pitchFamily="34" charset="-120"/>
              </a:rPr>
              <a:t>Vendor + invoice number combination checked before storage; duplicates auto-rejected.</a:t>
            </a:r>
            <a:endParaRPr lang="en-US" sz="1150" dirty="0"/>
          </a:p>
        </p:txBody>
      </p:sp>
      <p:sp>
        <p:nvSpPr>
          <p:cNvPr id="31" name="Text 23"/>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32" name="Text 2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A0E17"/>
        </a:solidFill>
        <a:effectLst/>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00A896">
              <a:alpha val="10000"/>
            </a:srgbClr>
          </a:solidFill>
          <a:ln/>
        </p:spPr>
        <p:txBody>
          <a:bodyPr/>
          <a:lstStyle/>
          <a:p>
            <a:endParaRPr lang="en-IN"/>
          </a:p>
        </p:txBody>
      </p:sp>
      <p:sp>
        <p:nvSpPr>
          <p:cNvPr id="3" name="Text 1"/>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WHY IT MATTERS</a:t>
            </a:r>
            <a:endParaRPr lang="en-US" sz="1300" dirty="0"/>
          </a:p>
        </p:txBody>
      </p:sp>
      <p:sp>
        <p:nvSpPr>
          <p:cNvPr id="4" name="Text 2"/>
          <p:cNvSpPr/>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From manual bottleneck to auditable automation</a:t>
            </a:r>
            <a:endParaRPr lang="en-US" sz="3200" dirty="0"/>
          </a:p>
        </p:txBody>
      </p:sp>
      <p:sp>
        <p:nvSpPr>
          <p:cNvPr id="5" name="Shape 3"/>
          <p:cNvSpPr/>
          <p:nvPr/>
        </p:nvSpPr>
        <p:spPr>
          <a:xfrm>
            <a:off x="548640" y="1737360"/>
            <a:ext cx="2542032"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6" name="Text 4"/>
          <p:cNvSpPr/>
          <p:nvPr/>
        </p:nvSpPr>
        <p:spPr>
          <a:xfrm>
            <a:off x="731520" y="1874520"/>
            <a:ext cx="2176272" cy="548640"/>
          </a:xfrm>
          <a:prstGeom prst="rect">
            <a:avLst/>
          </a:prstGeom>
          <a:noFill/>
          <a:ln/>
        </p:spPr>
        <p:txBody>
          <a:bodyPr wrap="square" lIns="0" tIns="0" rIns="0" bIns="0" rtlCol="0" anchor="ctr"/>
          <a:lstStyle/>
          <a:p>
            <a:pPr marL="0" indent="0">
              <a:buNone/>
            </a:pPr>
            <a:r>
              <a:rPr lang="en-US" sz="2600" b="1" dirty="0">
                <a:solidFill>
                  <a:srgbClr val="00A896"/>
                </a:solidFill>
                <a:latin typeface="Cambria" pitchFamily="34" charset="0"/>
                <a:ea typeface="Cambria" pitchFamily="34" charset="-122"/>
                <a:cs typeface="Cambria" pitchFamily="34" charset="-120"/>
              </a:rPr>
              <a:t>100%</a:t>
            </a:r>
            <a:endParaRPr lang="en-US" sz="2600" dirty="0"/>
          </a:p>
        </p:txBody>
      </p:sp>
      <p:sp>
        <p:nvSpPr>
          <p:cNvPr id="7" name="Text 5"/>
          <p:cNvSpPr/>
          <p:nvPr/>
        </p:nvSpPr>
        <p:spPr>
          <a:xfrm>
            <a:off x="731520" y="2450592"/>
            <a:ext cx="2176272" cy="594360"/>
          </a:xfrm>
          <a:prstGeom prst="rect">
            <a:avLst/>
          </a:prstGeom>
          <a:noFill/>
          <a:ln/>
        </p:spPr>
        <p:txBody>
          <a:bodyPr wrap="square" lIns="0" tIns="0" rIns="0" bIns="0" rtlCol="0" anchor="ctr"/>
          <a:lstStyle/>
          <a:p>
            <a:pPr marL="0" indent="0">
              <a:lnSpc>
                <a:spcPct val="115000"/>
              </a:lnSpc>
              <a:buNone/>
            </a:pPr>
            <a:r>
              <a:rPr lang="en-US" sz="1000" dirty="0">
                <a:solidFill>
                  <a:srgbClr val="94A3B8"/>
                </a:solidFill>
                <a:latin typeface="Calibri" pitchFamily="34" charset="0"/>
                <a:ea typeface="Calibri" pitchFamily="34" charset="-122"/>
                <a:cs typeface="Calibri" pitchFamily="34" charset="-120"/>
              </a:rPr>
              <a:t>Of invoices get a consistent, documented decision path</a:t>
            </a:r>
            <a:endParaRPr lang="en-US" sz="1000" dirty="0"/>
          </a:p>
        </p:txBody>
      </p:sp>
      <p:sp>
        <p:nvSpPr>
          <p:cNvPr id="8" name="Shape 6"/>
          <p:cNvSpPr/>
          <p:nvPr/>
        </p:nvSpPr>
        <p:spPr>
          <a:xfrm>
            <a:off x="3310128" y="1737360"/>
            <a:ext cx="2542032"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9" name="Text 7"/>
          <p:cNvSpPr/>
          <p:nvPr/>
        </p:nvSpPr>
        <p:spPr>
          <a:xfrm>
            <a:off x="3493008" y="1874520"/>
            <a:ext cx="2176272" cy="548640"/>
          </a:xfrm>
          <a:prstGeom prst="rect">
            <a:avLst/>
          </a:prstGeom>
          <a:noFill/>
          <a:ln/>
        </p:spPr>
        <p:txBody>
          <a:bodyPr wrap="square" lIns="0" tIns="0" rIns="0" bIns="0" rtlCol="0" anchor="ctr"/>
          <a:lstStyle/>
          <a:p>
            <a:pPr marL="0" indent="0">
              <a:buNone/>
            </a:pPr>
            <a:r>
              <a:rPr lang="en-US" sz="2600" b="1" dirty="0">
                <a:solidFill>
                  <a:srgbClr val="00A896"/>
                </a:solidFill>
                <a:latin typeface="Cambria" pitchFamily="34" charset="0"/>
                <a:ea typeface="Cambria" pitchFamily="34" charset="-122"/>
                <a:cs typeface="Cambria" pitchFamily="34" charset="-120"/>
              </a:rPr>
              <a:t>8</a:t>
            </a:r>
            <a:endParaRPr lang="en-US" sz="2600" dirty="0"/>
          </a:p>
        </p:txBody>
      </p:sp>
      <p:sp>
        <p:nvSpPr>
          <p:cNvPr id="10" name="Text 8"/>
          <p:cNvSpPr/>
          <p:nvPr/>
        </p:nvSpPr>
        <p:spPr>
          <a:xfrm>
            <a:off x="3493008" y="2450592"/>
            <a:ext cx="2176272" cy="594360"/>
          </a:xfrm>
          <a:prstGeom prst="rect">
            <a:avLst/>
          </a:prstGeom>
          <a:noFill/>
          <a:ln/>
        </p:spPr>
        <p:txBody>
          <a:bodyPr wrap="square" lIns="0" tIns="0" rIns="0" bIns="0" rtlCol="0" anchor="ctr"/>
          <a:lstStyle/>
          <a:p>
            <a:pPr marL="0" indent="0">
              <a:lnSpc>
                <a:spcPct val="115000"/>
              </a:lnSpc>
              <a:buNone/>
            </a:pPr>
            <a:r>
              <a:rPr lang="en-US" sz="1000" dirty="0">
                <a:solidFill>
                  <a:srgbClr val="94A3B8"/>
                </a:solidFill>
                <a:latin typeface="Calibri" pitchFamily="34" charset="0"/>
                <a:ea typeface="Calibri" pitchFamily="34" charset="-122"/>
                <a:cs typeface="Calibri" pitchFamily="34" charset="-120"/>
              </a:rPr>
              <a:t>Discrepancy types caught automatically, every time</a:t>
            </a:r>
            <a:endParaRPr lang="en-US" sz="1000" dirty="0"/>
          </a:p>
        </p:txBody>
      </p:sp>
      <p:sp>
        <p:nvSpPr>
          <p:cNvPr id="11" name="Shape 9"/>
          <p:cNvSpPr/>
          <p:nvPr/>
        </p:nvSpPr>
        <p:spPr>
          <a:xfrm>
            <a:off x="6071616" y="1737360"/>
            <a:ext cx="2542032"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2" name="Text 10"/>
          <p:cNvSpPr/>
          <p:nvPr/>
        </p:nvSpPr>
        <p:spPr>
          <a:xfrm>
            <a:off x="6254496" y="1874520"/>
            <a:ext cx="2176272" cy="548640"/>
          </a:xfrm>
          <a:prstGeom prst="rect">
            <a:avLst/>
          </a:prstGeom>
          <a:noFill/>
          <a:ln/>
        </p:spPr>
        <p:txBody>
          <a:bodyPr wrap="square" lIns="0" tIns="0" rIns="0" bIns="0" rtlCol="0" anchor="ctr"/>
          <a:lstStyle/>
          <a:p>
            <a:pPr marL="0" indent="0">
              <a:buNone/>
            </a:pPr>
            <a:r>
              <a:rPr lang="en-US" sz="2600" b="1" dirty="0">
                <a:solidFill>
                  <a:srgbClr val="00A896"/>
                </a:solidFill>
                <a:latin typeface="Cambria" pitchFamily="34" charset="0"/>
                <a:ea typeface="Cambria" pitchFamily="34" charset="-122"/>
                <a:cs typeface="Cambria" pitchFamily="34" charset="-120"/>
              </a:rPr>
              <a:t>0</a:t>
            </a:r>
            <a:endParaRPr lang="en-US" sz="2600" dirty="0"/>
          </a:p>
        </p:txBody>
      </p:sp>
      <p:sp>
        <p:nvSpPr>
          <p:cNvPr id="13" name="Text 11"/>
          <p:cNvSpPr/>
          <p:nvPr/>
        </p:nvSpPr>
        <p:spPr>
          <a:xfrm>
            <a:off x="6254496" y="2450592"/>
            <a:ext cx="2176272" cy="594360"/>
          </a:xfrm>
          <a:prstGeom prst="rect">
            <a:avLst/>
          </a:prstGeom>
          <a:noFill/>
          <a:ln/>
        </p:spPr>
        <p:txBody>
          <a:bodyPr wrap="square" lIns="0" tIns="0" rIns="0" bIns="0" rtlCol="0" anchor="ctr"/>
          <a:lstStyle/>
          <a:p>
            <a:pPr marL="0" indent="0">
              <a:lnSpc>
                <a:spcPct val="115000"/>
              </a:lnSpc>
              <a:buNone/>
            </a:pPr>
            <a:r>
              <a:rPr lang="en-US" sz="1000" dirty="0">
                <a:solidFill>
                  <a:srgbClr val="94A3B8"/>
                </a:solidFill>
                <a:latin typeface="Calibri" pitchFamily="34" charset="0"/>
                <a:ea typeface="Calibri" pitchFamily="34" charset="-122"/>
                <a:cs typeface="Calibri" pitchFamily="34" charset="-120"/>
              </a:rPr>
              <a:t>Plaintext passwords or hardcoded secrets in the codebase</a:t>
            </a:r>
            <a:endParaRPr lang="en-US" sz="1000" dirty="0"/>
          </a:p>
        </p:txBody>
      </p:sp>
      <p:sp>
        <p:nvSpPr>
          <p:cNvPr id="14" name="Shape 12"/>
          <p:cNvSpPr/>
          <p:nvPr/>
        </p:nvSpPr>
        <p:spPr>
          <a:xfrm>
            <a:off x="8833104" y="1737360"/>
            <a:ext cx="2542032" cy="1371600"/>
          </a:xfrm>
          <a:prstGeom prst="roundRect">
            <a:avLst>
              <a:gd name="adj" fmla="val 5333"/>
            </a:avLst>
          </a:prstGeom>
          <a:solidFill>
            <a:srgbClr val="131826"/>
          </a:solidFill>
          <a:ln/>
          <a:effectLst>
            <a:outerShdw blurRad="101600" dist="38100" dir="2700000" algn="bl" rotWithShape="0">
              <a:srgbClr val="000000">
                <a:alpha val="35000"/>
              </a:srgbClr>
            </a:outerShdw>
          </a:effectLst>
        </p:spPr>
        <p:txBody>
          <a:bodyPr/>
          <a:lstStyle/>
          <a:p>
            <a:endParaRPr lang="en-IN"/>
          </a:p>
        </p:txBody>
      </p:sp>
      <p:sp>
        <p:nvSpPr>
          <p:cNvPr id="15" name="Text 13"/>
          <p:cNvSpPr/>
          <p:nvPr/>
        </p:nvSpPr>
        <p:spPr>
          <a:xfrm>
            <a:off x="9015984" y="1874520"/>
            <a:ext cx="2176272" cy="548640"/>
          </a:xfrm>
          <a:prstGeom prst="rect">
            <a:avLst/>
          </a:prstGeom>
          <a:noFill/>
          <a:ln/>
        </p:spPr>
        <p:txBody>
          <a:bodyPr wrap="square" lIns="0" tIns="0" rIns="0" bIns="0" rtlCol="0" anchor="ctr"/>
          <a:lstStyle/>
          <a:p>
            <a:pPr marL="0" indent="0">
              <a:buNone/>
            </a:pPr>
            <a:r>
              <a:rPr lang="en-US" sz="2600" b="1" dirty="0">
                <a:solidFill>
                  <a:srgbClr val="00A896"/>
                </a:solidFill>
                <a:latin typeface="Cambria" pitchFamily="34" charset="0"/>
                <a:ea typeface="Cambria" pitchFamily="34" charset="-122"/>
                <a:cs typeface="Cambria" pitchFamily="34" charset="-120"/>
              </a:rPr>
              <a:t>Full</a:t>
            </a:r>
            <a:endParaRPr lang="en-US" sz="2600" dirty="0"/>
          </a:p>
        </p:txBody>
      </p:sp>
      <p:sp>
        <p:nvSpPr>
          <p:cNvPr id="16" name="Text 14"/>
          <p:cNvSpPr/>
          <p:nvPr/>
        </p:nvSpPr>
        <p:spPr>
          <a:xfrm>
            <a:off x="9015984" y="2450592"/>
            <a:ext cx="2176272" cy="594360"/>
          </a:xfrm>
          <a:prstGeom prst="rect">
            <a:avLst/>
          </a:prstGeom>
          <a:noFill/>
          <a:ln/>
        </p:spPr>
        <p:txBody>
          <a:bodyPr wrap="square" lIns="0" tIns="0" rIns="0" bIns="0" rtlCol="0" anchor="ctr"/>
          <a:lstStyle/>
          <a:p>
            <a:pPr marL="0" indent="0">
              <a:lnSpc>
                <a:spcPct val="115000"/>
              </a:lnSpc>
              <a:buNone/>
            </a:pPr>
            <a:r>
              <a:rPr lang="en-US" sz="1000" dirty="0">
                <a:solidFill>
                  <a:srgbClr val="94A3B8"/>
                </a:solidFill>
                <a:latin typeface="Calibri" pitchFamily="34" charset="0"/>
                <a:ea typeface="Calibri" pitchFamily="34" charset="-122"/>
                <a:cs typeface="Calibri" pitchFamily="34" charset="-120"/>
              </a:rPr>
              <a:t>Audit trail on every approval, rejection, and override</a:t>
            </a:r>
            <a:endParaRPr lang="en-US" sz="1000" dirty="0"/>
          </a:p>
        </p:txBody>
      </p:sp>
      <p:sp>
        <p:nvSpPr>
          <p:cNvPr id="17" name="Text 15"/>
          <p:cNvSpPr/>
          <p:nvPr/>
        </p:nvSpPr>
        <p:spPr>
          <a:xfrm>
            <a:off x="548640" y="3429000"/>
            <a:ext cx="10789920" cy="731520"/>
          </a:xfrm>
          <a:prstGeom prst="rect">
            <a:avLst/>
          </a:prstGeom>
          <a:noFill/>
          <a:ln/>
        </p:spPr>
        <p:txBody>
          <a:bodyPr wrap="square" lIns="0" tIns="0" rIns="0" bIns="0" rtlCol="0" anchor="ctr"/>
          <a:lstStyle/>
          <a:p>
            <a:pPr marL="0" indent="0">
              <a:lnSpc>
                <a:spcPct val="130000"/>
              </a:lnSpc>
              <a:buNone/>
            </a:pPr>
            <a:r>
              <a:rPr lang="en-US" sz="1500" b="1" dirty="0">
                <a:solidFill>
                  <a:srgbClr val="FFFFFF"/>
                </a:solidFill>
                <a:latin typeface="Calibri" pitchFamily="34" charset="0"/>
                <a:ea typeface="Calibri" pitchFamily="34" charset="-122"/>
                <a:cs typeface="Calibri" pitchFamily="34" charset="-120"/>
              </a:rPr>
              <a:t>Human-in-the-loop by design: </a:t>
            </a:r>
            <a:r>
              <a:rPr lang="en-US" sz="1500" dirty="0">
                <a:solidFill>
                  <a:srgbClr val="94A3B8"/>
                </a:solidFill>
                <a:latin typeface="Calibri" pitchFamily="34" charset="0"/>
                <a:ea typeface="Calibri" pitchFamily="34" charset="-122"/>
                <a:cs typeface="Calibri" pitchFamily="34" charset="-120"/>
              </a:rPr>
              <a:t>the AI accelerates the work, but every review, approval, and rejection remains a documented human decision — not a black box.</a:t>
            </a:r>
            <a:endParaRPr lang="en-US" sz="1500" dirty="0"/>
          </a:p>
        </p:txBody>
      </p:sp>
      <p:sp>
        <p:nvSpPr>
          <p:cNvPr id="18" name="Shape 16"/>
          <p:cNvSpPr/>
          <p:nvPr/>
        </p:nvSpPr>
        <p:spPr>
          <a:xfrm>
            <a:off x="548640" y="4434840"/>
            <a:ext cx="10789920" cy="0"/>
          </a:xfrm>
          <a:prstGeom prst="line">
            <a:avLst/>
          </a:prstGeom>
          <a:noFill/>
          <a:ln w="12700">
            <a:solidFill>
              <a:srgbClr val="1A2133"/>
            </a:solidFill>
            <a:prstDash val="solid"/>
          </a:ln>
        </p:spPr>
        <p:txBody>
          <a:bodyPr/>
          <a:lstStyle/>
          <a:p>
            <a:endParaRPr lang="en-IN"/>
          </a:p>
        </p:txBody>
      </p:sp>
      <p:sp>
        <p:nvSpPr>
          <p:cNvPr id="19" name="Text 17"/>
          <p:cNvSpPr/>
          <p:nvPr/>
        </p:nvSpPr>
        <p:spPr>
          <a:xfrm>
            <a:off x="548640" y="4709160"/>
            <a:ext cx="73152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20" name="Text 18"/>
          <p:cNvSpPr/>
          <p:nvPr/>
        </p:nvSpPr>
        <p:spPr>
          <a:xfrm>
            <a:off x="548640" y="5349240"/>
            <a:ext cx="9144000" cy="36576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Invoice-PO Guardian — Rounak · AnthraSync AI Engineer Assignment, Round 3</a:t>
            </a:r>
            <a:endParaRPr lang="en-US" sz="1250" dirty="0"/>
          </a:p>
        </p:txBody>
      </p:sp>
      <p:sp>
        <p:nvSpPr>
          <p:cNvPr id="21" name="Text 19"/>
          <p:cNvSpPr/>
          <p:nvPr/>
        </p:nvSpPr>
        <p:spPr>
          <a:xfrm>
            <a:off x="548640" y="5669280"/>
            <a:ext cx="5486400" cy="365760"/>
          </a:xfrm>
          <a:prstGeom prst="rect">
            <a:avLst/>
          </a:prstGeom>
          <a:noFill/>
          <a:ln/>
        </p:spPr>
        <p:txBody>
          <a:bodyPr wrap="square" lIns="0" tIns="0" rIns="0" bIns="0" rtlCol="0" anchor="ctr"/>
          <a:lstStyle/>
          <a:p>
            <a:pPr marL="0" indent="0">
              <a:buNone/>
            </a:pPr>
            <a:r>
              <a:rPr lang="en-US" sz="1200" dirty="0">
                <a:solidFill>
                  <a:srgbClr val="22D3EE"/>
                </a:solidFill>
                <a:latin typeface="Calibri" pitchFamily="34" charset="0"/>
                <a:ea typeface="Calibri" pitchFamily="34" charset="-122"/>
                <a:cs typeface="Calibri" pitchFamily="34" charset="-120"/>
              </a:rPr>
              <a:t>github.com/BookishThumb</a:t>
            </a:r>
            <a:endParaRPr lang="en-US" sz="1200" dirty="0"/>
          </a:p>
        </p:txBody>
      </p:sp>
      <p:sp>
        <p:nvSpPr>
          <p:cNvPr id="23" name="Text 20"/>
          <p:cNvSpPr/>
          <p:nvPr/>
        </p:nvSpPr>
        <p:spPr>
          <a:xfrm>
            <a:off x="457200" y="6473952"/>
            <a:ext cx="4572000" cy="27432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INVOICE-PO GUARDIAN</a:t>
            </a:r>
            <a:endParaRPr lang="en-US" sz="900" dirty="0"/>
          </a:p>
        </p:txBody>
      </p:sp>
      <p:sp>
        <p:nvSpPr>
          <p:cNvPr id="24"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3478</Words>
  <Application>Microsoft Office PowerPoint</Application>
  <PresentationFormat>Widescreen</PresentationFormat>
  <Paragraphs>207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Invoice-PO Guardian</dc:title>
  <dc:subject>PptxGenJS Presentation</dc:subject>
  <dc:creator>Rounak</dc:creator>
  <cp:lastModifiedBy>Rounak Banerjee</cp:lastModifiedBy>
  <cp:revision>2</cp:revision>
  <dcterms:created xsi:type="dcterms:W3CDTF">2026-07-05T08:00:20Z</dcterms:created>
  <dcterms:modified xsi:type="dcterms:W3CDTF">2026-07-05T15:38:51Z</dcterms:modified>
</cp:coreProperties>
</file>